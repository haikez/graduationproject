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思源宋体 2 Bold" panose="02010600030101010101" charset="-122"/>
      <p:regular r:id="rId21"/>
    </p:embeddedFont>
    <p:embeddedFont>
      <p:font typeface="思源宋体-超粗体" panose="02010600030101010101" charset="-122"/>
      <p:regular r:id="rId22"/>
    </p:embeddedFont>
    <p:embeddedFont>
      <p:font typeface="微软雅黑" panose="020B0503020204020204" pitchFamily="34" charset="-122"/>
      <p:regular r:id="rId23"/>
      <p:bold r:id="rId24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汇报人：倪矗；指导老师：黄惠芳；北京交通大学。研究主题来自开题报告，现阶段模型为 SCF-Mamba。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汇报顺序：研究背景、研究进展、模型设计、实验结果、后续计划。消融实验仍在后续计划中。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交通流预测兼具长期依赖、空间异质性与下采样信息保留问题。输入 96 步对应 8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开题报告提出 Mamba-TCN、CA-STI 和动态空间建模。当前成果聚焦 SCI 多尺度分解、节点轴 Mamba 与合并前交叉注意力。动态图模块未完成。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注意不要将节点轴 Mamba 误称为时间轴 Mamba。保留 SCI 内部原本的加减与缩放交互。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请注意当前模型的真实边界，不宣称未实现的 DGCN 或检索分支。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SCI 递归深度为 2。原有分支变换没有被交叉注意力替换；交叉注意力作用于合并位置。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Mamba 扫描发生在节点轴。避免把这里讲成纯时间序列扫描或已实现动态图。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交叉注意力在 SCI 下采样后的序列融合位置，而非替换 SCI 内部的加和减。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共 2 个数据集 × 4 个预测长度 = 8 个完整训练任务，全部从头训练 80 轮。Autodl-211，RTX 4090，最多四组并行。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m=1[y≠0]。Loss=sum(m|ŷ−y|)/sum(m)，归一化空间。最优模型选取依据为验证原始量纲掩码MAE。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PEMS04 四组全部完成 80 轮；表中数值来自归档 summary.json，显示到三位小数；最佳轮次为验证集掩码 MAE 最优轮。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PEMS08 四组全部完成 80 轮；表中数值来自归档 summary.json，显示到三位小数；最佳轮次为验证集掩码 MAE 最优轮。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完整嵌入用户提供的“对比实验.png”，保持原始字节、长宽比与全部脚注。对比图的标准化指标与上一页原始量纲测试指标不能直接横比。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不称统计显著或全面优于其它方法。SCINet历史训练unmasked L1、unmasked验证；SCF masked。DST 原文 7:1:2，我们 6:2:2。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消融实验尚未整理成统一协议的完整证据，因此只呈现计划，不虚构效果。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时间安排与开题报告总体答辩节点对应，后续具体时间以学校学院安排为准。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感谢各位老师，欢迎批评指正。相关参考：Mamba（Gu &amp; Dao, 2023）；SCINet（Liu 等, NeurIPS 2022）；DST-Mamba（He 等, AAAI 2025）。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0AF1-9276-44AD-B086-A099EC9CD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B5072-DA35-4B6B-BE11-4A9FEA0C0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88E10-9F57-4341-9C26-1C022C25EF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317F-1090-4AB2-9B13-F93CC4D2C0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BB3D-81F4-49EA-B3B0-11FBDDDDB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CB7F-D541-40C9-8804-69BDA737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16A49-C8B2-415C-A22C-1A5838689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B394-D09E-4293-943C-FBECB40290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7EB5-BD5B-4DBE-A753-053E6A73B1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87A0-7799-4C89-8299-ECEF0817DE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DBB3-E282-41C6-A777-4F4E15B3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03E2C-97A7-4AB3-925D-DD020B14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C7775-6D8D-4D20-ACA5-E0EFFB8134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0E0B-3483-4883-B1F0-0F1AAE789B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73A3-F34D-43BC-9EB7-6057B34482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6F75-FBFA-4990-8799-175AD7CC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8DA40-3976-4573-B2D1-91F9458D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84B7D-1D39-464E-816D-F818DC6BF79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571DF-9028-4A91-A005-F777CD055C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2F0D4-A209-4FE0-A0B8-E542520BE4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C9B5A-2FF5-42FA-8B82-AA442BABC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C7D9-C5F4-4266-B495-87427580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78371-0A01-4B3B-81E7-A9645E435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BEDB7-9AC7-47E2-A064-970585EDC26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D0129-6A7A-43DB-91DA-56960B7A03B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6ED27-728A-4520-BE8F-A8666E85C5A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11299-64DD-4DD9-9894-AD1898C33A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6C7F7-EE48-467D-B815-AACE801BBF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67910-1E75-40AC-88FE-67B8A8AA9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656E-8338-4C63-8F66-5337458C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D5633-DE32-49AA-B847-AB6A00F496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0C4D-8338-4355-9540-555617BDA4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2452-7BAA-4383-88C1-31E5EF3FFC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1DE7C-29EF-400C-8DB5-069347A460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7C79E-F858-4A8B-A8E4-482780B10F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3CE85-F5C9-4C8C-88E7-2C10D3AEF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1052-316E-49C1-BDEE-6F4DB988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9346-7023-4BB1-9A49-DCF47CB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AE7A8-7942-4B9D-A14D-964CB144ED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B99DA-3476-4E24-A026-3B24AF225B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09E9A-92CA-46E3-8EC7-5086934450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36228-3D94-4E56-AC81-BD82250EB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2D67-9176-4FCB-846B-49907B96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190D8-01D5-4604-AD1F-30E34E925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90D89-9AC8-4828-826E-FDF0ACA5A8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23856-E71D-4931-B5CA-A8BA4B6038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3884-7165-4DCE-B93B-B2AEE12FEB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BAB75-05C0-4BC6-8432-5C28C97168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FCBB-A93B-4B90-AEEC-8F9DC0ED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CDD37-2873-4835-AC7B-48FF539E6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9643F-C6B8-41AD-8904-02A62114C4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6CB7-591F-44B5-9883-7760E15CAF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CF79F-2693-4D32-A21E-E10A2E209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14934-44EA-4673-9210-561ACA68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2B9F7-C3DD-431C-97A1-494D07AC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55B2-5566-44C6-A8D2-B3ED7893A6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96F94-4E88-470F-A17C-BA2155F3FD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BFDA-5FAF-43E7-9938-9B39161A22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B8437-517D-4F72-8189-570CFBE1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A0C7-DCA5-4BE1-8793-9B23101A7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AFC4-638E-47E6-A16A-7BBDC05D24A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2026/10/13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BB60-BBA3-4319-AB9A-80EE577557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88B3-2A64-47D3-8813-044D8A12EEA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">
            <a:extLst>
              <a:ext uri="{FF2B5EF4-FFF2-40B4-BE49-F238E27FC236}">
                <a16:creationId xmlns:a16="http://schemas.microsoft.com/office/drawing/2014/main" id="{29922511-E453-E011-5285-47AD771759E4}"/>
              </a:ext>
            </a:extLst>
          </p:cNvPr>
          <p:cNvSpPr>
            <a:spLocks noGrp="1"/>
          </p:cNvSpPr>
          <p:nvPr/>
        </p:nvSpPr>
        <p:spPr>
          <a:xfrm rot="862994">
            <a:off x="0" y="7634155"/>
            <a:ext cx="9299864" cy="2652845"/>
          </a:xfrm>
          <a:custGeom>
            <a:avLst/>
            <a:gdLst/>
            <a:ahLst/>
            <a:cxnLst/>
            <a:rect l="l" t="t" r="r" b="b"/>
            <a:pathLst>
              <a:path w="17412058" h="4723021">
                <a:moveTo>
                  <a:pt x="0" y="0"/>
                </a:moveTo>
                <a:lnTo>
                  <a:pt x="17412059" y="0"/>
                </a:lnTo>
                <a:lnTo>
                  <a:pt x="17412059" y="4723021"/>
                </a:lnTo>
                <a:lnTo>
                  <a:pt x="0" y="47230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" name="Freeform 4">
            <a:extLst>
              <a:ext uri="{FF2B5EF4-FFF2-40B4-BE49-F238E27FC236}">
                <a16:creationId xmlns:a16="http://schemas.microsoft.com/office/drawing/2014/main" id="{85FD5342-AAEF-700E-F9CB-98C182A1A1D5}"/>
              </a:ext>
            </a:extLst>
          </p:cNvPr>
          <p:cNvSpPr>
            <a:spLocks noGrp="1"/>
          </p:cNvSpPr>
          <p:nvPr/>
        </p:nvSpPr>
        <p:spPr>
          <a:xfrm rot="-1204851" flipV="1">
            <a:off x="5745427" y="8194128"/>
            <a:ext cx="12542573" cy="2092872"/>
          </a:xfrm>
          <a:custGeom>
            <a:avLst/>
            <a:gdLst/>
            <a:ahLst/>
            <a:cxnLst/>
            <a:rect l="l" t="t" r="r" b="b"/>
            <a:pathLst>
              <a:path w="13996660" h="4723021">
                <a:moveTo>
                  <a:pt x="0" y="4723021"/>
                </a:moveTo>
                <a:lnTo>
                  <a:pt x="13996660" y="4723021"/>
                </a:lnTo>
                <a:lnTo>
                  <a:pt x="13996660" y="0"/>
                </a:lnTo>
                <a:lnTo>
                  <a:pt x="0" y="0"/>
                </a:lnTo>
                <a:lnTo>
                  <a:pt x="0" y="4723021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r="-244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5" name="Freeform 3">
            <a:extLst>
              <a:ext uri="{FF2B5EF4-FFF2-40B4-BE49-F238E27FC236}">
                <a16:creationId xmlns:a16="http://schemas.microsoft.com/office/drawing/2014/main" id="{71AD6264-DD54-C289-C805-C2D36B643D87}"/>
              </a:ext>
            </a:extLst>
          </p:cNvPr>
          <p:cNvSpPr>
            <a:spLocks noGrp="1"/>
          </p:cNvSpPr>
          <p:nvPr/>
        </p:nvSpPr>
        <p:spPr>
          <a:xfrm>
            <a:off x="0" y="1672063"/>
            <a:ext cx="18263511" cy="5633329"/>
          </a:xfrm>
          <a:custGeom>
            <a:avLst/>
            <a:gdLst/>
            <a:ahLst/>
            <a:cxnLst/>
            <a:rect l="l" t="t" r="r" b="b"/>
            <a:pathLst>
              <a:path w="22727910" h="1730375">
                <a:moveTo>
                  <a:pt x="0" y="0"/>
                </a:moveTo>
                <a:lnTo>
                  <a:pt x="22727910" y="0"/>
                </a:lnTo>
                <a:lnTo>
                  <a:pt x="22727910" y="1730375"/>
                </a:lnTo>
                <a:lnTo>
                  <a:pt x="0" y="1730375"/>
                </a:ln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>
              <a:solidFill>
                <a:srgbClr val="013690"/>
              </a:solidFill>
            </a:endParaRPr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33398484-F154-E413-1402-ED05D162D061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FF6BAD-708A-49AF-B240-11321226D6B0}"/>
              </a:ext>
            </a:extLst>
          </p:cNvPr>
          <p:cNvSpPr>
            <a:spLocks noGrp="1"/>
          </p:cNvSpPr>
          <p:nvPr/>
        </p:nvSpPr>
        <p:spPr>
          <a:xfrm>
            <a:off x="14541204" y="73283"/>
            <a:ext cx="227195" cy="10213717"/>
          </a:xfrm>
          <a:custGeom>
            <a:avLst/>
            <a:gdLst/>
            <a:ahLst/>
            <a:cxnLst/>
            <a:rect l="l" t="t" r="r" b="b"/>
            <a:pathLst>
              <a:path w="59837" h="2767844">
                <a:moveTo>
                  <a:pt x="29919" y="0"/>
                </a:moveTo>
                <a:lnTo>
                  <a:pt x="29919" y="0"/>
                </a:lnTo>
                <a:cubicBezTo>
                  <a:pt x="37854" y="0"/>
                  <a:pt x="45464" y="3152"/>
                  <a:pt x="51074" y="8763"/>
                </a:cubicBezTo>
                <a:cubicBezTo>
                  <a:pt x="56685" y="14374"/>
                  <a:pt x="59837" y="21984"/>
                  <a:pt x="59837" y="29919"/>
                </a:cubicBezTo>
                <a:lnTo>
                  <a:pt x="59837" y="2737926"/>
                </a:lnTo>
                <a:cubicBezTo>
                  <a:pt x="59837" y="2754449"/>
                  <a:pt x="46442" y="2767844"/>
                  <a:pt x="29919" y="2767844"/>
                </a:cubicBezTo>
                <a:lnTo>
                  <a:pt x="29919" y="2767844"/>
                </a:lnTo>
                <a:cubicBezTo>
                  <a:pt x="21984" y="2767844"/>
                  <a:pt x="14374" y="2764692"/>
                  <a:pt x="8763" y="2759081"/>
                </a:cubicBezTo>
                <a:cubicBezTo>
                  <a:pt x="3152" y="2753470"/>
                  <a:pt x="0" y="2745860"/>
                  <a:pt x="0" y="2737926"/>
                </a:cubicBezTo>
                <a:lnTo>
                  <a:pt x="0" y="29919"/>
                </a:lnTo>
                <a:cubicBezTo>
                  <a:pt x="0" y="13395"/>
                  <a:pt x="13395" y="0"/>
                  <a:pt x="29919" y="0"/>
                </a:cubicBez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4900376-AB54-42F6-A1C5-58EA7A86F8C6}"/>
              </a:ext>
            </a:extLst>
          </p:cNvPr>
          <p:cNvSpPr>
            <a:spLocks noGrp="1"/>
          </p:cNvSpPr>
          <p:nvPr/>
        </p:nvSpPr>
        <p:spPr>
          <a:xfrm>
            <a:off x="14541204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975544A-D80C-415B-98D9-8126F8C39CE5}"/>
              </a:ext>
            </a:extLst>
          </p:cNvPr>
          <p:cNvSpPr>
            <a:spLocks noGrp="1"/>
          </p:cNvSpPr>
          <p:nvPr/>
        </p:nvSpPr>
        <p:spPr>
          <a:xfrm>
            <a:off x="12559920" y="8016210"/>
            <a:ext cx="496623" cy="2270790"/>
          </a:xfrm>
          <a:custGeom>
            <a:avLst/>
            <a:gdLst/>
            <a:ahLst/>
            <a:cxnLst/>
            <a:rect l="l" t="t" r="r" b="b"/>
            <a:pathLst>
              <a:path w="130798" h="898050">
                <a:moveTo>
                  <a:pt x="65399" y="0"/>
                </a:moveTo>
                <a:lnTo>
                  <a:pt x="65399" y="0"/>
                </a:lnTo>
                <a:cubicBezTo>
                  <a:pt x="82744" y="0"/>
                  <a:pt x="99378" y="6890"/>
                  <a:pt x="111643" y="19155"/>
                </a:cubicBezTo>
                <a:cubicBezTo>
                  <a:pt x="123908" y="31420"/>
                  <a:pt x="130798" y="48054"/>
                  <a:pt x="130798" y="65399"/>
                </a:cubicBezTo>
                <a:lnTo>
                  <a:pt x="130798" y="832651"/>
                </a:lnTo>
                <a:cubicBezTo>
                  <a:pt x="130798" y="849996"/>
                  <a:pt x="123908" y="866631"/>
                  <a:pt x="111643" y="878895"/>
                </a:cubicBezTo>
                <a:cubicBezTo>
                  <a:pt x="99378" y="891160"/>
                  <a:pt x="82744" y="898050"/>
                  <a:pt x="65399" y="898050"/>
                </a:cubicBezTo>
                <a:lnTo>
                  <a:pt x="65399" y="898050"/>
                </a:lnTo>
                <a:cubicBezTo>
                  <a:pt x="29280" y="898050"/>
                  <a:pt x="0" y="868770"/>
                  <a:pt x="0" y="832651"/>
                </a:cubicBezTo>
                <a:lnTo>
                  <a:pt x="0" y="65399"/>
                </a:lnTo>
                <a:cubicBezTo>
                  <a:pt x="0" y="29280"/>
                  <a:pt x="29280" y="0"/>
                  <a:pt x="65399" y="0"/>
                </a:cubicBez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>
              <a:solidFill>
                <a:srgbClr val="013690"/>
              </a:solidFill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F003BF6-44B2-4BD6-B889-8D37AE9A4438}"/>
              </a:ext>
            </a:extLst>
          </p:cNvPr>
          <p:cNvSpPr>
            <a:spLocks noGrp="1"/>
          </p:cNvSpPr>
          <p:nvPr/>
        </p:nvSpPr>
        <p:spPr>
          <a:xfrm>
            <a:off x="12559920" y="7835384"/>
            <a:ext cx="496623" cy="245161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F7E8D8A-632E-4499-B72B-4F307212EDFF}"/>
              </a:ext>
            </a:extLst>
          </p:cNvPr>
          <p:cNvSpPr>
            <a:spLocks noGrp="1"/>
          </p:cNvSpPr>
          <p:nvPr/>
        </p:nvSpPr>
        <p:spPr>
          <a:xfrm>
            <a:off x="1293983" y="8133037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C886365-1A23-4319-9A2A-1EDE66E2E033}"/>
              </a:ext>
            </a:extLst>
          </p:cNvPr>
          <p:cNvSpPr>
            <a:spLocks noGrp="1"/>
          </p:cNvSpPr>
          <p:nvPr/>
        </p:nvSpPr>
        <p:spPr>
          <a:xfrm>
            <a:off x="5768042" y="8133037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67F67BF-46F6-4634-B9DC-60C38B31AE2D}"/>
              </a:ext>
            </a:extLst>
          </p:cNvPr>
          <p:cNvSpPr>
            <a:spLocks noGrp="1"/>
          </p:cNvSpPr>
          <p:nvPr/>
        </p:nvSpPr>
        <p:spPr>
          <a:xfrm>
            <a:off x="584541" y="2990947"/>
            <a:ext cx="208565" cy="3113542"/>
          </a:xfrm>
          <a:custGeom>
            <a:avLst/>
            <a:gdLst/>
            <a:ahLst/>
            <a:cxnLst/>
            <a:rect l="l" t="t" r="r" b="b"/>
            <a:pathLst>
              <a:path w="54931" h="820027">
                <a:moveTo>
                  <a:pt x="27465" y="0"/>
                </a:moveTo>
                <a:lnTo>
                  <a:pt x="27465" y="0"/>
                </a:lnTo>
                <a:cubicBezTo>
                  <a:pt x="34750" y="0"/>
                  <a:pt x="41736" y="2894"/>
                  <a:pt x="46886" y="8044"/>
                </a:cubicBezTo>
                <a:cubicBezTo>
                  <a:pt x="52037" y="13195"/>
                  <a:pt x="54931" y="20181"/>
                  <a:pt x="54931" y="27465"/>
                </a:cubicBezTo>
                <a:lnTo>
                  <a:pt x="54931" y="792562"/>
                </a:lnTo>
                <a:cubicBezTo>
                  <a:pt x="54931" y="799846"/>
                  <a:pt x="52037" y="806832"/>
                  <a:pt x="46886" y="811983"/>
                </a:cubicBezTo>
                <a:cubicBezTo>
                  <a:pt x="41736" y="817134"/>
                  <a:pt x="34750" y="820027"/>
                  <a:pt x="27465" y="820027"/>
                </a:cubicBezTo>
                <a:lnTo>
                  <a:pt x="27465" y="820027"/>
                </a:lnTo>
                <a:cubicBezTo>
                  <a:pt x="20181" y="820027"/>
                  <a:pt x="13195" y="817134"/>
                  <a:pt x="8044" y="811983"/>
                </a:cubicBezTo>
                <a:cubicBezTo>
                  <a:pt x="2894" y="806832"/>
                  <a:pt x="0" y="799846"/>
                  <a:pt x="0" y="792562"/>
                </a:cubicBezTo>
                <a:lnTo>
                  <a:pt x="0" y="27465"/>
                </a:lnTo>
                <a:cubicBezTo>
                  <a:pt x="0" y="20181"/>
                  <a:pt x="2894" y="13195"/>
                  <a:pt x="8044" y="8044"/>
                </a:cubicBezTo>
                <a:cubicBezTo>
                  <a:pt x="13195" y="2894"/>
                  <a:pt x="20181" y="0"/>
                  <a:pt x="2746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CE9C9D2-2BE8-4646-A3ED-DE3CC7FE1850}"/>
              </a:ext>
            </a:extLst>
          </p:cNvPr>
          <p:cNvSpPr>
            <a:spLocks noGrp="1"/>
          </p:cNvSpPr>
          <p:nvPr/>
        </p:nvSpPr>
        <p:spPr>
          <a:xfrm>
            <a:off x="584541" y="2810121"/>
            <a:ext cx="208565" cy="329436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0F06205-8A58-45FC-AAFA-8AD17B8096EB}"/>
              </a:ext>
            </a:extLst>
          </p:cNvPr>
          <p:cNvSpPr>
            <a:spLocks noGrp="1"/>
          </p:cNvSpPr>
          <p:nvPr/>
        </p:nvSpPr>
        <p:spPr>
          <a:xfrm>
            <a:off x="1238250" y="3209925"/>
            <a:ext cx="16192500" cy="2031873"/>
          </a:xfrm>
          <a:prstGeom prst="rect">
            <a:avLst/>
          </a:prstGeom>
        </p:spPr>
        <p:txBody>
          <a:bodyPr wrap="none" lIns="0" tIns="0" rIns="0" bIns="0" anchor="ctr">
            <a:normAutofit/>
          </a:bodyPr>
          <a:lstStyle>
            <a:defPPr algn="ctr">
              <a:defRPr sz="4200" b="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lnSpc>
                <a:spcPts val="15999"/>
              </a:lnSpc>
              <a:buNone/>
              <a:defRPr sz="4200" b="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4200" b="0" spc="349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融合 Mamba 与跨序列注意力的时空交通流预测研究</a:t>
            </a:r>
            <a:endParaRPr sz="4800" spc="349">
              <a:solidFill>
                <a:schemeClr val="bg1"/>
              </a:solidFill>
              <a:latin typeface="思源宋体-超粗体"/>
              <a:ea typeface="思源宋体-超粗体"/>
              <a:cs typeface="思源宋体-超粗体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508D316-47EB-434A-B951-E7CE7C8CFC8E}"/>
              </a:ext>
            </a:extLst>
          </p:cNvPr>
          <p:cNvSpPr>
            <a:spLocks noGrp="1"/>
          </p:cNvSpPr>
          <p:nvPr/>
        </p:nvSpPr>
        <p:spPr>
          <a:xfrm>
            <a:off x="2069531" y="8133037"/>
            <a:ext cx="1364751" cy="4612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 u="none" strike="noStrike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汇报人：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F2C4A78-8370-47EB-B323-A6FEB2D40C3E}"/>
              </a:ext>
            </a:extLst>
          </p:cNvPr>
          <p:cNvSpPr>
            <a:spLocks noGrp="1"/>
          </p:cNvSpPr>
          <p:nvPr/>
        </p:nvSpPr>
        <p:spPr>
          <a:xfrm>
            <a:off x="3434283" y="8133037"/>
            <a:ext cx="1364751" cy="4612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倪矗</a:t>
            </a:r>
            <a:endParaRPr sz="2499" u="none" strike="noStrike">
              <a:solidFill>
                <a:srgbClr val="013690"/>
              </a:solidFill>
              <a:latin typeface="思源宋体 2 Bold"/>
              <a:ea typeface="思源宋体 2 Bold"/>
              <a:cs typeface="思源宋体 2 Bold"/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D868C7BA-F5B5-5DC1-9E86-E7E9CC88BE79}"/>
              </a:ext>
            </a:extLst>
          </p:cNvPr>
          <p:cNvSpPr>
            <a:spLocks noGrp="1"/>
          </p:cNvSpPr>
          <p:nvPr/>
        </p:nvSpPr>
        <p:spPr>
          <a:xfrm rot="10060989">
            <a:off x="0" y="0"/>
            <a:ext cx="13898360" cy="1206720"/>
          </a:xfrm>
          <a:custGeom>
            <a:avLst/>
            <a:gdLst/>
            <a:ahLst/>
            <a:cxnLst/>
            <a:rect l="l" t="t" r="r" b="b"/>
            <a:pathLst>
              <a:path w="17412058" h="4723021">
                <a:moveTo>
                  <a:pt x="0" y="0"/>
                </a:moveTo>
                <a:lnTo>
                  <a:pt x="17412059" y="0"/>
                </a:lnTo>
                <a:lnTo>
                  <a:pt x="17412059" y="4723020"/>
                </a:lnTo>
                <a:lnTo>
                  <a:pt x="0" y="472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6FAC8E5-9D35-4051-B234-564D86AAF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165" y="0"/>
            <a:ext cx="2618234" cy="2230289"/>
          </a:xfrm>
          <a:prstGeom prst="rect">
            <a:avLst/>
          </a:prstGeom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ED325C88-91BD-490F-8B83-7E0143C69333}"/>
              </a:ext>
            </a:extLst>
          </p:cNvPr>
          <p:cNvSpPr>
            <a:spLocks noGrp="1"/>
          </p:cNvSpPr>
          <p:nvPr/>
        </p:nvSpPr>
        <p:spPr>
          <a:xfrm>
            <a:off x="6539567" y="8133037"/>
            <a:ext cx="1649540" cy="4612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 u="none" strike="noStrike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指导老师：</a:t>
            </a: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5E0FACC0-5592-6F9B-54C5-723F0D547841}"/>
              </a:ext>
            </a:extLst>
          </p:cNvPr>
          <p:cNvSpPr>
            <a:spLocks noGrp="1"/>
          </p:cNvSpPr>
          <p:nvPr/>
        </p:nvSpPr>
        <p:spPr>
          <a:xfrm>
            <a:off x="8169053" y="8133036"/>
            <a:ext cx="1649540" cy="4612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黄惠芳</a:t>
            </a:r>
            <a:endParaRPr sz="2499" u="none" strike="noStrike">
              <a:solidFill>
                <a:srgbClr val="013690"/>
              </a:solidFill>
              <a:latin typeface="思源宋体 2 Bold"/>
              <a:ea typeface="思源宋体 2 Bold"/>
              <a:cs typeface="思源宋体 2 Bold"/>
            </a:endParaRPr>
          </a:p>
        </p:txBody>
      </p:sp>
      <p:sp>
        <p:nvSpPr>
          <p:cNvPr id="58" name="汇报类型">
            <a:extLst>
              <a:ext uri="{FF2B5EF4-FFF2-40B4-BE49-F238E27FC236}">
                <a16:creationId xmlns:a16="http://schemas.microsoft.com/office/drawing/2014/main" id="{CF59F2D5-3A56-41DA-9DA3-882F0ADC65D1}"/>
              </a:ext>
            </a:extLst>
          </p:cNvPr>
          <p:cNvSpPr>
            <a:spLocks noGrp="1"/>
          </p:cNvSpPr>
          <p:nvPr/>
        </p:nvSpPr>
        <p:spPr>
          <a:xfrm>
            <a:off x="4381500" y="21336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7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7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硕士研究生中期检查汇报</a:t>
            </a:r>
          </a:p>
        </p:txBody>
      </p:sp>
      <p:sp>
        <p:nvSpPr>
          <p:cNvPr id="59" name="模型名称">
            <a:extLst>
              <a:ext uri="{FF2B5EF4-FFF2-40B4-BE49-F238E27FC236}">
                <a16:creationId xmlns:a16="http://schemas.microsoft.com/office/drawing/2014/main" id="{14D5AF9B-9F20-4552-B129-31774E47559E}"/>
              </a:ext>
            </a:extLst>
          </p:cNvPr>
          <p:cNvSpPr>
            <a:spLocks noGrp="1"/>
          </p:cNvSpPr>
          <p:nvPr/>
        </p:nvSpPr>
        <p:spPr>
          <a:xfrm>
            <a:off x="6096000" y="5257800"/>
            <a:ext cx="6096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2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SCF-Mamba</a:t>
            </a:r>
          </a:p>
        </p:txBody>
      </p:sp>
      <p:sp>
        <p:nvSpPr>
          <p:cNvPr id="60" name="汇报日期">
            <a:extLst>
              <a:ext uri="{FF2B5EF4-FFF2-40B4-BE49-F238E27FC236}">
                <a16:creationId xmlns:a16="http://schemas.microsoft.com/office/drawing/2014/main" id="{BFB354D8-CCEA-477D-B3BE-AF91CD8C5BE4}"/>
              </a:ext>
            </a:extLst>
          </p:cNvPr>
          <p:cNvSpPr>
            <a:spLocks noGrp="1"/>
          </p:cNvSpPr>
          <p:nvPr/>
        </p:nvSpPr>
        <p:spPr>
          <a:xfrm>
            <a:off x="6667500" y="897255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89678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759807C-2FE0-65FB-2146-5F7940B42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269978" cy="10287000"/>
          </a:xfrm>
          <a:prstGeom prst="rect">
            <a:avLst/>
          </a:prstGeom>
          <a:solidFill>
            <a:srgbClr val="0136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700">
              <a:latin typeface="Arial"/>
              <a:ea typeface="Arial"/>
              <a:cs typeface="Arial"/>
            </a:endParaRPr>
          </a:p>
        </p:txBody>
      </p:sp>
      <p:sp>
        <p:nvSpPr>
          <p:cNvPr id="15" name="文本框 23">
            <a:extLst>
              <a:ext uri="{FF2B5EF4-FFF2-40B4-BE49-F238E27FC236}">
                <a16:creationId xmlns:a16="http://schemas.microsoft.com/office/drawing/2014/main" id="{D6395C4C-B2EC-537E-1C2E-96DFAA37DADF}"/>
              </a:ext>
            </a:extLst>
          </p:cNvPr>
          <p:cNvSpPr>
            <a:spLocks noGrp="1"/>
          </p:cNvSpPr>
          <p:nvPr/>
        </p:nvSpPr>
        <p:spPr>
          <a:xfrm>
            <a:off x="1082470" y="3744084"/>
            <a:ext cx="29965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9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目录</a:t>
            </a:r>
          </a:p>
        </p:txBody>
      </p:sp>
      <p:sp>
        <p:nvSpPr>
          <p:cNvPr id="16" name="文本框 24">
            <a:extLst>
              <a:ext uri="{FF2B5EF4-FFF2-40B4-BE49-F238E27FC236}">
                <a16:creationId xmlns:a16="http://schemas.microsoft.com/office/drawing/2014/main" id="{96A40A65-3077-5C1B-0D6C-EF9552DE966E}"/>
              </a:ext>
            </a:extLst>
          </p:cNvPr>
          <p:cNvSpPr>
            <a:spLocks noGrp="1"/>
          </p:cNvSpPr>
          <p:nvPr/>
        </p:nvSpPr>
        <p:spPr>
          <a:xfrm>
            <a:off x="438938" y="5343002"/>
            <a:ext cx="43554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2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18" name="文本框 12">
            <a:extLst>
              <a:ext uri="{FF2B5EF4-FFF2-40B4-BE49-F238E27FC236}">
                <a16:creationId xmlns:a16="http://schemas.microsoft.com/office/drawing/2014/main" id="{4ABBD642-3CB4-F10D-9FA6-97BA1D0E9EAF}"/>
              </a:ext>
            </a:extLst>
          </p:cNvPr>
          <p:cNvSpPr>
            <a:spLocks noGrp="1"/>
          </p:cNvSpPr>
          <p:nvPr/>
        </p:nvSpPr>
        <p:spPr>
          <a:xfrm>
            <a:off x="9144000" y="1358672"/>
            <a:ext cx="1127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6600" b="1">
                <a:solidFill>
                  <a:srgbClr val="01369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4" name="文本框 2">
            <a:extLst>
              <a:ext uri="{FF2B5EF4-FFF2-40B4-BE49-F238E27FC236}">
                <a16:creationId xmlns:a16="http://schemas.microsoft.com/office/drawing/2014/main" id="{03E611D3-31DC-DB7A-FB65-B4403837D257}"/>
              </a:ext>
            </a:extLst>
          </p:cNvPr>
          <p:cNvSpPr>
            <a:spLocks noGrp="1"/>
          </p:cNvSpPr>
          <p:nvPr/>
        </p:nvSpPr>
        <p:spPr>
          <a:xfrm>
            <a:off x="10819447" y="1497170"/>
            <a:ext cx="6554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研究背景</a:t>
            </a:r>
          </a:p>
        </p:txBody>
      </p:sp>
      <p:sp>
        <p:nvSpPr>
          <p:cNvPr id="38" name="文本框 12">
            <a:extLst>
              <a:ext uri="{FF2B5EF4-FFF2-40B4-BE49-F238E27FC236}">
                <a16:creationId xmlns:a16="http://schemas.microsoft.com/office/drawing/2014/main" id="{137DB3B5-FEF7-F716-EA14-DB1C341D1BF4}"/>
              </a:ext>
            </a:extLst>
          </p:cNvPr>
          <p:cNvSpPr>
            <a:spLocks noGrp="1"/>
          </p:cNvSpPr>
          <p:nvPr/>
        </p:nvSpPr>
        <p:spPr>
          <a:xfrm>
            <a:off x="9144000" y="2910386"/>
            <a:ext cx="1127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6600" b="1">
                <a:solidFill>
                  <a:srgbClr val="0136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文本框 2">
            <a:extLst>
              <a:ext uri="{FF2B5EF4-FFF2-40B4-BE49-F238E27FC236}">
                <a16:creationId xmlns:a16="http://schemas.microsoft.com/office/drawing/2014/main" id="{33DCFF33-2289-D3D6-F215-C033D8390917}"/>
              </a:ext>
            </a:extLst>
          </p:cNvPr>
          <p:cNvSpPr>
            <a:spLocks noGrp="1"/>
          </p:cNvSpPr>
          <p:nvPr/>
        </p:nvSpPr>
        <p:spPr>
          <a:xfrm>
            <a:off x="10819447" y="3048884"/>
            <a:ext cx="6554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研究进展</a:t>
            </a:r>
          </a:p>
        </p:txBody>
      </p:sp>
      <p:sp>
        <p:nvSpPr>
          <p:cNvPr id="40" name="文本框 12">
            <a:extLst>
              <a:ext uri="{FF2B5EF4-FFF2-40B4-BE49-F238E27FC236}">
                <a16:creationId xmlns:a16="http://schemas.microsoft.com/office/drawing/2014/main" id="{1EC07CAF-F411-E360-0FB5-D067FD2E4583}"/>
              </a:ext>
            </a:extLst>
          </p:cNvPr>
          <p:cNvSpPr>
            <a:spLocks noGrp="1"/>
          </p:cNvSpPr>
          <p:nvPr/>
        </p:nvSpPr>
        <p:spPr>
          <a:xfrm>
            <a:off x="9144000" y="4462100"/>
            <a:ext cx="1127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6600" b="1">
                <a:solidFill>
                  <a:srgbClr val="0136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文本框 2">
            <a:extLst>
              <a:ext uri="{FF2B5EF4-FFF2-40B4-BE49-F238E27FC236}">
                <a16:creationId xmlns:a16="http://schemas.microsoft.com/office/drawing/2014/main" id="{9430CAED-80D2-5316-2F0D-A2CD02656D17}"/>
              </a:ext>
            </a:extLst>
          </p:cNvPr>
          <p:cNvSpPr>
            <a:spLocks noGrp="1"/>
          </p:cNvSpPr>
          <p:nvPr/>
        </p:nvSpPr>
        <p:spPr>
          <a:xfrm>
            <a:off x="10819445" y="4600598"/>
            <a:ext cx="6554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模型设计</a:t>
            </a:r>
          </a:p>
        </p:txBody>
      </p:sp>
      <p:sp>
        <p:nvSpPr>
          <p:cNvPr id="42" name="文本框 12">
            <a:extLst>
              <a:ext uri="{FF2B5EF4-FFF2-40B4-BE49-F238E27FC236}">
                <a16:creationId xmlns:a16="http://schemas.microsoft.com/office/drawing/2014/main" id="{05D397E3-FC25-07B7-C116-7CFF3A5EBE90}"/>
              </a:ext>
            </a:extLst>
          </p:cNvPr>
          <p:cNvSpPr>
            <a:spLocks noGrp="1"/>
          </p:cNvSpPr>
          <p:nvPr/>
        </p:nvSpPr>
        <p:spPr>
          <a:xfrm>
            <a:off x="9144000" y="6013814"/>
            <a:ext cx="1127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6600" b="1">
                <a:solidFill>
                  <a:srgbClr val="0136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3" name="文本框 2">
            <a:extLst>
              <a:ext uri="{FF2B5EF4-FFF2-40B4-BE49-F238E27FC236}">
                <a16:creationId xmlns:a16="http://schemas.microsoft.com/office/drawing/2014/main" id="{2D466393-84B6-9363-38F3-DD5A65926A8E}"/>
              </a:ext>
            </a:extLst>
          </p:cNvPr>
          <p:cNvSpPr>
            <a:spLocks noGrp="1"/>
          </p:cNvSpPr>
          <p:nvPr/>
        </p:nvSpPr>
        <p:spPr>
          <a:xfrm>
            <a:off x="10819444" y="6152312"/>
            <a:ext cx="6554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实验结果</a:t>
            </a:r>
          </a:p>
        </p:txBody>
      </p:sp>
      <p:sp>
        <p:nvSpPr>
          <p:cNvPr id="44" name="文本框 12">
            <a:extLst>
              <a:ext uri="{FF2B5EF4-FFF2-40B4-BE49-F238E27FC236}">
                <a16:creationId xmlns:a16="http://schemas.microsoft.com/office/drawing/2014/main" id="{E55FE8E4-108F-CC5C-35F6-2DDBE20E57CA}"/>
              </a:ext>
            </a:extLst>
          </p:cNvPr>
          <p:cNvSpPr>
            <a:spLocks noGrp="1"/>
          </p:cNvSpPr>
          <p:nvPr/>
        </p:nvSpPr>
        <p:spPr>
          <a:xfrm>
            <a:off x="9144000" y="7565528"/>
            <a:ext cx="1127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6600" b="1">
                <a:solidFill>
                  <a:srgbClr val="0136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5" name="文本框 2">
            <a:extLst>
              <a:ext uri="{FF2B5EF4-FFF2-40B4-BE49-F238E27FC236}">
                <a16:creationId xmlns:a16="http://schemas.microsoft.com/office/drawing/2014/main" id="{25A68656-16A3-6EE6-B7A4-DE7B2F6B4C10}"/>
              </a:ext>
            </a:extLst>
          </p:cNvPr>
          <p:cNvSpPr>
            <a:spLocks noGrp="1"/>
          </p:cNvSpPr>
          <p:nvPr/>
        </p:nvSpPr>
        <p:spPr>
          <a:xfrm>
            <a:off x="10819442" y="7704026"/>
            <a:ext cx="6554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后续计划</a:t>
            </a:r>
          </a:p>
        </p:txBody>
      </p:sp>
    </p:spTree>
    <p:extLst>
      <p:ext uri="{BB962C8B-B14F-4D97-AF65-F5344CB8AC3E}">
        <p14:creationId xmlns:p14="http://schemas.microsoft.com/office/powerpoint/2010/main" val="346875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925BF179-07B6-4EF8-BC3F-CEE28847806D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 dirty="0" err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研究背景：长时交通流预测的难点</a:t>
            </a:r>
            <a:endParaRPr sz="3600" b="1" dirty="0">
              <a:solidFill>
                <a:srgbClr val="063D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时间尺度变化卡片">
            <a:extLst>
              <a:ext uri="{FF2B5EF4-FFF2-40B4-BE49-F238E27FC236}">
                <a16:creationId xmlns:a16="http://schemas.microsoft.com/office/drawing/2014/main" id="{BBB8673B-62E2-46A4-97F1-FEDD009D8CCD}"/>
              </a:ext>
            </a:extLst>
          </p:cNvPr>
          <p:cNvSpPr>
            <a:spLocks noGrp="1"/>
          </p:cNvSpPr>
          <p:nvPr/>
        </p:nvSpPr>
        <p:spPr>
          <a:xfrm>
            <a:off x="1095375" y="2381250"/>
            <a:ext cx="5000625" cy="5619750"/>
          </a:xfrm>
          <a:prstGeom prst="roundRect">
            <a:avLst>
              <a:gd name="adj" fmla="val 1524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时间尺度变化标记">
            <a:extLst>
              <a:ext uri="{FF2B5EF4-FFF2-40B4-BE49-F238E27FC236}">
                <a16:creationId xmlns:a16="http://schemas.microsoft.com/office/drawing/2014/main" id="{73E4B476-89BD-434C-BF61-C29814F38CEB}"/>
              </a:ext>
            </a:extLst>
          </p:cNvPr>
          <p:cNvSpPr>
            <a:spLocks noGrp="1"/>
          </p:cNvSpPr>
          <p:nvPr/>
        </p:nvSpPr>
        <p:spPr>
          <a:xfrm>
            <a:off x="1095375" y="2381250"/>
            <a:ext cx="95250" cy="5619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时间尺度变化">
            <a:extLst>
              <a:ext uri="{FF2B5EF4-FFF2-40B4-BE49-F238E27FC236}">
                <a16:creationId xmlns:a16="http://schemas.microsoft.com/office/drawing/2014/main" id="{A13F87F1-9840-4BDE-ADA5-5043DF254459}"/>
              </a:ext>
            </a:extLst>
          </p:cNvPr>
          <p:cNvSpPr>
            <a:spLocks noGrp="1"/>
          </p:cNvSpPr>
          <p:nvPr/>
        </p:nvSpPr>
        <p:spPr>
          <a:xfrm>
            <a:off x="1362075" y="2571750"/>
            <a:ext cx="4467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时间尺度变化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A48B46A7-B7F5-4DB0-A19B-939663064F1A}"/>
              </a:ext>
            </a:extLst>
          </p:cNvPr>
          <p:cNvSpPr>
            <a:spLocks noGrp="1"/>
          </p:cNvSpPr>
          <p:nvPr/>
        </p:nvSpPr>
        <p:spPr>
          <a:xfrm>
            <a:off x="1362075" y="3219450"/>
            <a:ext cx="4467225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交通流具有通勤周期、突发波动与局部趋势。预测步长从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 12 </a:t>
            </a: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扩展到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 96 </a:t>
            </a: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时，误差会逐步累积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6" name="节点差异卡片">
            <a:extLst>
              <a:ext uri="{FF2B5EF4-FFF2-40B4-BE49-F238E27FC236}">
                <a16:creationId xmlns:a16="http://schemas.microsoft.com/office/drawing/2014/main" id="{01F5179A-14E8-45A5-99CC-51BBF0CD8ADD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5000625" cy="5619750"/>
          </a:xfrm>
          <a:prstGeom prst="roundRect">
            <a:avLst>
              <a:gd name="adj" fmla="val 1524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节点差异标记">
            <a:extLst>
              <a:ext uri="{FF2B5EF4-FFF2-40B4-BE49-F238E27FC236}">
                <a16:creationId xmlns:a16="http://schemas.microsoft.com/office/drawing/2014/main" id="{8D7488AC-6E5F-4035-A1DA-C78ED0F7ABAF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95250" cy="5619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节点差异">
            <a:extLst>
              <a:ext uri="{FF2B5EF4-FFF2-40B4-BE49-F238E27FC236}">
                <a16:creationId xmlns:a16="http://schemas.microsoft.com/office/drawing/2014/main" id="{BF32FB0D-BF33-40F6-BB6F-79433AD0086A}"/>
              </a:ext>
            </a:extLst>
          </p:cNvPr>
          <p:cNvSpPr>
            <a:spLocks noGrp="1"/>
          </p:cNvSpPr>
          <p:nvPr/>
        </p:nvSpPr>
        <p:spPr>
          <a:xfrm>
            <a:off x="6886575" y="2571750"/>
            <a:ext cx="4467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节点差异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83D6AE00-49CF-4FF5-875C-43467380F686}"/>
              </a:ext>
            </a:extLst>
          </p:cNvPr>
          <p:cNvSpPr>
            <a:spLocks noGrp="1"/>
          </p:cNvSpPr>
          <p:nvPr/>
        </p:nvSpPr>
        <p:spPr>
          <a:xfrm>
            <a:off x="6886575" y="3219450"/>
            <a:ext cx="4467225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不同道路节点的流量分布和响应规律不同，单一的时间表示难以覆盖全部路段。</a:t>
            </a:r>
          </a:p>
        </p:txBody>
      </p:sp>
      <p:sp>
        <p:nvSpPr>
          <p:cNvPr id="60" name="序列信息损失卡片">
            <a:extLst>
              <a:ext uri="{FF2B5EF4-FFF2-40B4-BE49-F238E27FC236}">
                <a16:creationId xmlns:a16="http://schemas.microsoft.com/office/drawing/2014/main" id="{07E82FAE-DA0E-488C-A57F-5047E0BCF794}"/>
              </a:ext>
            </a:extLst>
          </p:cNvPr>
          <p:cNvSpPr>
            <a:spLocks noGrp="1"/>
          </p:cNvSpPr>
          <p:nvPr/>
        </p:nvSpPr>
        <p:spPr>
          <a:xfrm>
            <a:off x="12144375" y="2381250"/>
            <a:ext cx="5000625" cy="5619750"/>
          </a:xfrm>
          <a:prstGeom prst="roundRect">
            <a:avLst>
              <a:gd name="adj" fmla="val 1524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序列信息损失标记">
            <a:extLst>
              <a:ext uri="{FF2B5EF4-FFF2-40B4-BE49-F238E27FC236}">
                <a16:creationId xmlns:a16="http://schemas.microsoft.com/office/drawing/2014/main" id="{CBF34207-21D5-4A52-9884-8686368CC5A1}"/>
              </a:ext>
            </a:extLst>
          </p:cNvPr>
          <p:cNvSpPr>
            <a:spLocks noGrp="1"/>
          </p:cNvSpPr>
          <p:nvPr/>
        </p:nvSpPr>
        <p:spPr>
          <a:xfrm>
            <a:off x="12144375" y="2381250"/>
            <a:ext cx="95250" cy="5619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序列信息损失">
            <a:extLst>
              <a:ext uri="{FF2B5EF4-FFF2-40B4-BE49-F238E27FC236}">
                <a16:creationId xmlns:a16="http://schemas.microsoft.com/office/drawing/2014/main" id="{27DF3938-5DC1-4034-8515-5C18F4450D91}"/>
              </a:ext>
            </a:extLst>
          </p:cNvPr>
          <p:cNvSpPr>
            <a:spLocks noGrp="1"/>
          </p:cNvSpPr>
          <p:nvPr/>
        </p:nvSpPr>
        <p:spPr>
          <a:xfrm>
            <a:off x="12411075" y="2571750"/>
            <a:ext cx="4467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序列信息损失</a:t>
            </a:r>
          </a:p>
        </p:txBody>
      </p:sp>
      <p:sp>
        <p:nvSpPr>
          <p:cNvPr id="63" name="正文">
            <a:extLst>
              <a:ext uri="{FF2B5EF4-FFF2-40B4-BE49-F238E27FC236}">
                <a16:creationId xmlns:a16="http://schemas.microsoft.com/office/drawing/2014/main" id="{694C67C5-5AFC-4A69-8BAF-89B147BFD0E1}"/>
              </a:ext>
            </a:extLst>
          </p:cNvPr>
          <p:cNvSpPr>
            <a:spLocks noGrp="1"/>
          </p:cNvSpPr>
          <p:nvPr/>
        </p:nvSpPr>
        <p:spPr>
          <a:xfrm>
            <a:off x="12411075" y="3219450"/>
            <a:ext cx="4467225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多尺度下采样有利于扩大感受野，但奇偶分支的交互与合并阶段需要保留互补信息。</a:t>
            </a:r>
          </a:p>
        </p:txBody>
      </p:sp>
      <p:sp>
        <p:nvSpPr>
          <p:cNvPr id="64" name="来源与口径">
            <a:extLst>
              <a:ext uri="{FF2B5EF4-FFF2-40B4-BE49-F238E27FC236}">
                <a16:creationId xmlns:a16="http://schemas.microsoft.com/office/drawing/2014/main" id="{DBE0A750-09F7-4CB6-9579-0A31A0A9FCED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目标：输入 96 个 5 分钟采样点，预测未来 12 / 24 / 48 / 96 个采样点。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5BD305C6-418E-4748-B150-C57B9BF83F4C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开题计划与当前进展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1D75DCEA-2E85-4189-B47D-AA12DC09D596}"/>
              </a:ext>
            </a:extLst>
          </p:cNvPr>
          <p:cNvGraphicFramePr/>
          <p:nvPr/>
        </p:nvGraphicFramePr>
        <p:xfrm>
          <a:off x="1143000" y="2543175"/>
          <a:ext cx="16002000" cy="56197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395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开题阶段设想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截至 2026 年 10 月完成情况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时间建模：Mamba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与多尺度交互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已实现两级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SCI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递归分解与节点轴双向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Mamba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序列融合：跨序列注意力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已在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3 处 SCI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合并前加入共享的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4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头注意力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空间关系：动态图或图卷积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尚未纳入当前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SCF-Mamba；列为后续研究方向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实验验证：多数据集、多步长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PEMS04/08 共 8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组设置已完成</a:t>
                      </a:r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80 </a:t>
                      </a:r>
                      <a:r>
                        <a:rPr sz="2175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轮训练</a:t>
                      </a:r>
                      <a:endParaRPr sz="2175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来源与口径">
            <a:extLst>
              <a:ext uri="{FF2B5EF4-FFF2-40B4-BE49-F238E27FC236}">
                <a16:creationId xmlns:a16="http://schemas.microsoft.com/office/drawing/2014/main" id="{90315989-E1DA-4F14-8447-2958B7B984BC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以已训练模型和归档配置为依据；开题设想与现阶段实现的差异已明确标示。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18FE174D-C337-42B1-AA86-EA7A26FC2A31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阶段技术路线与模型定位</a:t>
            </a:r>
          </a:p>
        </p:txBody>
      </p:sp>
      <p:sp>
        <p:nvSpPr>
          <p:cNvPr id="52" name="输入窗口卡片">
            <a:extLst>
              <a:ext uri="{FF2B5EF4-FFF2-40B4-BE49-F238E27FC236}">
                <a16:creationId xmlns:a16="http://schemas.microsoft.com/office/drawing/2014/main" id="{987C3B03-B6E0-47DC-8DA2-246044B3BEEC}"/>
              </a:ext>
            </a:extLst>
          </p:cNvPr>
          <p:cNvSpPr>
            <a:spLocks noGrp="1"/>
          </p:cNvSpPr>
          <p:nvPr/>
        </p:nvSpPr>
        <p:spPr>
          <a:xfrm>
            <a:off x="1238250" y="2952750"/>
            <a:ext cx="3476625" cy="3714750"/>
          </a:xfrm>
          <a:prstGeom prst="roundRect">
            <a:avLst>
              <a:gd name="adj" fmla="val 219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输入窗口标记">
            <a:extLst>
              <a:ext uri="{FF2B5EF4-FFF2-40B4-BE49-F238E27FC236}">
                <a16:creationId xmlns:a16="http://schemas.microsoft.com/office/drawing/2014/main" id="{A3F0C501-9EDC-4F02-B9F1-2D4DC936CF54}"/>
              </a:ext>
            </a:extLst>
          </p:cNvPr>
          <p:cNvSpPr>
            <a:spLocks noGrp="1"/>
          </p:cNvSpPr>
          <p:nvPr/>
        </p:nvSpPr>
        <p:spPr>
          <a:xfrm>
            <a:off x="1238250" y="2952750"/>
            <a:ext cx="95250" cy="3714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输入窗口">
            <a:extLst>
              <a:ext uri="{FF2B5EF4-FFF2-40B4-BE49-F238E27FC236}">
                <a16:creationId xmlns:a16="http://schemas.microsoft.com/office/drawing/2014/main" id="{4C59676B-930C-4536-BA00-6DD75E59F425}"/>
              </a:ext>
            </a:extLst>
          </p:cNvPr>
          <p:cNvSpPr>
            <a:spLocks noGrp="1"/>
          </p:cNvSpPr>
          <p:nvPr/>
        </p:nvSpPr>
        <p:spPr>
          <a:xfrm>
            <a:off x="1504950" y="3143250"/>
            <a:ext cx="2943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输入窗口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0A21605B-820A-4E1C-B990-964A3E97C658}"/>
              </a:ext>
            </a:extLst>
          </p:cNvPr>
          <p:cNvSpPr>
            <a:spLocks noGrp="1"/>
          </p:cNvSpPr>
          <p:nvPr/>
        </p:nvSpPr>
        <p:spPr>
          <a:xfrm>
            <a:off x="1504950" y="3790950"/>
            <a:ext cx="29432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96 步流量序列</a:t>
            </a:r>
          </a:p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日历特征</a:t>
            </a:r>
          </a:p>
        </p:txBody>
      </p:sp>
      <p:sp>
        <p:nvSpPr>
          <p:cNvPr id="56" name="多尺度交互卡片">
            <a:extLst>
              <a:ext uri="{FF2B5EF4-FFF2-40B4-BE49-F238E27FC236}">
                <a16:creationId xmlns:a16="http://schemas.microsoft.com/office/drawing/2014/main" id="{DE6CAF30-EAA9-4FDD-B228-89D0EE612ACD}"/>
              </a:ext>
            </a:extLst>
          </p:cNvPr>
          <p:cNvSpPr>
            <a:spLocks noGrp="1"/>
          </p:cNvSpPr>
          <p:nvPr/>
        </p:nvSpPr>
        <p:spPr>
          <a:xfrm>
            <a:off x="5191125" y="2952750"/>
            <a:ext cx="3476625" cy="3714750"/>
          </a:xfrm>
          <a:prstGeom prst="roundRect">
            <a:avLst>
              <a:gd name="adj" fmla="val 219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多尺度交互标记">
            <a:extLst>
              <a:ext uri="{FF2B5EF4-FFF2-40B4-BE49-F238E27FC236}">
                <a16:creationId xmlns:a16="http://schemas.microsoft.com/office/drawing/2014/main" id="{8E4F9FDD-ACA1-4145-8036-16447493A08B}"/>
              </a:ext>
            </a:extLst>
          </p:cNvPr>
          <p:cNvSpPr>
            <a:spLocks noGrp="1"/>
          </p:cNvSpPr>
          <p:nvPr/>
        </p:nvSpPr>
        <p:spPr>
          <a:xfrm>
            <a:off x="5191125" y="2952750"/>
            <a:ext cx="95250" cy="3714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多尺度交互">
            <a:extLst>
              <a:ext uri="{FF2B5EF4-FFF2-40B4-BE49-F238E27FC236}">
                <a16:creationId xmlns:a16="http://schemas.microsoft.com/office/drawing/2014/main" id="{0A71BCAA-52F0-428C-97BF-69E449673E57}"/>
              </a:ext>
            </a:extLst>
          </p:cNvPr>
          <p:cNvSpPr>
            <a:spLocks noGrp="1"/>
          </p:cNvSpPr>
          <p:nvPr/>
        </p:nvSpPr>
        <p:spPr>
          <a:xfrm>
            <a:off x="5457825" y="3143250"/>
            <a:ext cx="2943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多尺度交互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5CE927B7-A86E-4700-9322-1AF0F9712E50}"/>
              </a:ext>
            </a:extLst>
          </p:cNvPr>
          <p:cNvSpPr>
            <a:spLocks noGrp="1"/>
          </p:cNvSpPr>
          <p:nvPr/>
        </p:nvSpPr>
        <p:spPr>
          <a:xfrm>
            <a:off x="5457825" y="3790950"/>
            <a:ext cx="29432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两级 SCI 奇偶拆分</a:t>
            </a:r>
          </a:p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保留原始缩放与加减交互</a:t>
            </a:r>
          </a:p>
        </p:txBody>
      </p:sp>
      <p:sp>
        <p:nvSpPr>
          <p:cNvPr id="60" name="节点编码与融合卡片">
            <a:extLst>
              <a:ext uri="{FF2B5EF4-FFF2-40B4-BE49-F238E27FC236}">
                <a16:creationId xmlns:a16="http://schemas.microsoft.com/office/drawing/2014/main" id="{40D7CDB0-D3E2-44DF-A264-1CC9C6F7F936}"/>
              </a:ext>
            </a:extLst>
          </p:cNvPr>
          <p:cNvSpPr>
            <a:spLocks noGrp="1"/>
          </p:cNvSpPr>
          <p:nvPr/>
        </p:nvSpPr>
        <p:spPr>
          <a:xfrm>
            <a:off x="9144000" y="2952750"/>
            <a:ext cx="3476625" cy="3714750"/>
          </a:xfrm>
          <a:prstGeom prst="roundRect">
            <a:avLst>
              <a:gd name="adj" fmla="val 219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节点编码与融合标记">
            <a:extLst>
              <a:ext uri="{FF2B5EF4-FFF2-40B4-BE49-F238E27FC236}">
                <a16:creationId xmlns:a16="http://schemas.microsoft.com/office/drawing/2014/main" id="{3F107FB2-A472-4C67-B9E6-62D6D2E39716}"/>
              </a:ext>
            </a:extLst>
          </p:cNvPr>
          <p:cNvSpPr>
            <a:spLocks noGrp="1"/>
          </p:cNvSpPr>
          <p:nvPr/>
        </p:nvSpPr>
        <p:spPr>
          <a:xfrm>
            <a:off x="9144000" y="2952750"/>
            <a:ext cx="95250" cy="3714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节点编码与融合">
            <a:extLst>
              <a:ext uri="{FF2B5EF4-FFF2-40B4-BE49-F238E27FC236}">
                <a16:creationId xmlns:a16="http://schemas.microsoft.com/office/drawing/2014/main" id="{07933774-ACC4-4EC2-8E74-E488EF353268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2943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节点编码与融合</a:t>
            </a:r>
          </a:p>
        </p:txBody>
      </p:sp>
      <p:sp>
        <p:nvSpPr>
          <p:cNvPr id="63" name="正文">
            <a:extLst>
              <a:ext uri="{FF2B5EF4-FFF2-40B4-BE49-F238E27FC236}">
                <a16:creationId xmlns:a16="http://schemas.microsoft.com/office/drawing/2014/main" id="{DD62B499-49AB-465F-A3EE-BF7B8207BB34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29432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节点轴双向 Mamba</a:t>
            </a:r>
          </a:p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合并前交叉注意力</a:t>
            </a:r>
          </a:p>
        </p:txBody>
      </p:sp>
      <p:sp>
        <p:nvSpPr>
          <p:cNvPr id="64" name="预测输出卡片">
            <a:extLst>
              <a:ext uri="{FF2B5EF4-FFF2-40B4-BE49-F238E27FC236}">
                <a16:creationId xmlns:a16="http://schemas.microsoft.com/office/drawing/2014/main" id="{1D5EBA03-6473-4F78-B1AF-BB4075D3B440}"/>
              </a:ext>
            </a:extLst>
          </p:cNvPr>
          <p:cNvSpPr>
            <a:spLocks noGrp="1"/>
          </p:cNvSpPr>
          <p:nvPr/>
        </p:nvSpPr>
        <p:spPr>
          <a:xfrm>
            <a:off x="13096875" y="2952750"/>
            <a:ext cx="3476625" cy="3714750"/>
          </a:xfrm>
          <a:prstGeom prst="roundRect">
            <a:avLst>
              <a:gd name="adj" fmla="val 219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预测输出标记">
            <a:extLst>
              <a:ext uri="{FF2B5EF4-FFF2-40B4-BE49-F238E27FC236}">
                <a16:creationId xmlns:a16="http://schemas.microsoft.com/office/drawing/2014/main" id="{E6A9BE43-A338-4D1D-BF68-6CDAA1CC512F}"/>
              </a:ext>
            </a:extLst>
          </p:cNvPr>
          <p:cNvSpPr>
            <a:spLocks noGrp="1"/>
          </p:cNvSpPr>
          <p:nvPr/>
        </p:nvSpPr>
        <p:spPr>
          <a:xfrm>
            <a:off x="13096875" y="2952750"/>
            <a:ext cx="95250" cy="3714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预测输出">
            <a:extLst>
              <a:ext uri="{FF2B5EF4-FFF2-40B4-BE49-F238E27FC236}">
                <a16:creationId xmlns:a16="http://schemas.microsoft.com/office/drawing/2014/main" id="{C5674DE7-7FA7-4EB3-AE23-B83164D64F56}"/>
              </a:ext>
            </a:extLst>
          </p:cNvPr>
          <p:cNvSpPr>
            <a:spLocks noGrp="1"/>
          </p:cNvSpPr>
          <p:nvPr/>
        </p:nvSpPr>
        <p:spPr>
          <a:xfrm>
            <a:off x="13363575" y="3143250"/>
            <a:ext cx="29432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预测输出</a:t>
            </a:r>
          </a:p>
        </p:txBody>
      </p:sp>
      <p:sp>
        <p:nvSpPr>
          <p:cNvPr id="67" name="正文">
            <a:extLst>
              <a:ext uri="{FF2B5EF4-FFF2-40B4-BE49-F238E27FC236}">
                <a16:creationId xmlns:a16="http://schemas.microsoft.com/office/drawing/2014/main" id="{4A2A5051-3E01-427C-A5EA-6C308E24E9C5}"/>
              </a:ext>
            </a:extLst>
          </p:cNvPr>
          <p:cNvSpPr>
            <a:spLocks noGrp="1"/>
          </p:cNvSpPr>
          <p:nvPr/>
        </p:nvSpPr>
        <p:spPr>
          <a:xfrm>
            <a:off x="13363575" y="3790950"/>
            <a:ext cx="29432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线性映射</a:t>
            </a:r>
          </a:p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输出 12/24/48/96 步</a:t>
            </a:r>
          </a:p>
        </p:txBody>
      </p:sp>
      <p:sp>
        <p:nvSpPr>
          <p:cNvPr id="68" name="流程箭头">
            <a:extLst>
              <a:ext uri="{FF2B5EF4-FFF2-40B4-BE49-F238E27FC236}">
                <a16:creationId xmlns:a16="http://schemas.microsoft.com/office/drawing/2014/main" id="{6C763F16-1235-4AF7-A327-6304D3BFE7A6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47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318"/>
          </a:bodyPr>
          <a:lstStyle>
            <a:def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流程箭头">
            <a:extLst>
              <a:ext uri="{FF2B5EF4-FFF2-40B4-BE49-F238E27FC236}">
                <a16:creationId xmlns:a16="http://schemas.microsoft.com/office/drawing/2014/main" id="{51777AE4-642C-4AAC-A761-70E477E135B2}"/>
              </a:ext>
            </a:extLst>
          </p:cNvPr>
          <p:cNvSpPr>
            <a:spLocks noGrp="1"/>
          </p:cNvSpPr>
          <p:nvPr/>
        </p:nvSpPr>
        <p:spPr>
          <a:xfrm>
            <a:off x="8715375" y="4286250"/>
            <a:ext cx="47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318"/>
          </a:bodyPr>
          <a:lstStyle>
            <a:def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0" name="流程箭头">
            <a:extLst>
              <a:ext uri="{FF2B5EF4-FFF2-40B4-BE49-F238E27FC236}">
                <a16:creationId xmlns:a16="http://schemas.microsoft.com/office/drawing/2014/main" id="{E749BBD4-DA0A-4A66-BCFC-E418805FFBD6}"/>
              </a:ext>
            </a:extLst>
          </p:cNvPr>
          <p:cNvSpPr>
            <a:spLocks noGrp="1"/>
          </p:cNvSpPr>
          <p:nvPr/>
        </p:nvSpPr>
        <p:spPr>
          <a:xfrm>
            <a:off x="12668250" y="4286250"/>
            <a:ext cx="47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318"/>
          </a:bodyPr>
          <a:lstStyle>
            <a:def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1" name="说明底条">
            <a:extLst>
              <a:ext uri="{FF2B5EF4-FFF2-40B4-BE49-F238E27FC236}">
                <a16:creationId xmlns:a16="http://schemas.microsoft.com/office/drawing/2014/main" id="{F2FD06B5-C40D-4104-854C-DCF5CDFC0109}"/>
              </a:ext>
            </a:extLst>
          </p:cNvPr>
          <p:cNvSpPr>
            <a:spLocks noGrp="1"/>
          </p:cNvSpPr>
          <p:nvPr/>
        </p:nvSpPr>
        <p:spPr>
          <a:xfrm>
            <a:off x="1238250" y="7477125"/>
            <a:ext cx="15335250" cy="102870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正文">
            <a:extLst>
              <a:ext uri="{FF2B5EF4-FFF2-40B4-BE49-F238E27FC236}">
                <a16:creationId xmlns:a16="http://schemas.microsoft.com/office/drawing/2014/main" id="{EAA4ADC2-6110-4282-B430-2BA1D119C7BD}"/>
              </a:ext>
            </a:extLst>
          </p:cNvPr>
          <p:cNvSpPr>
            <a:spLocks noGrp="1"/>
          </p:cNvSpPr>
          <p:nvPr/>
        </p:nvSpPr>
        <p:spPr>
          <a:xfrm>
            <a:off x="1524000" y="7705725"/>
            <a:ext cx="1476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086"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现阶段主模型：SCF-Mamba。SCI 负责多尺度时间结构；Mamba 在节点轴编码；跨序列注意力在分支合并前补充交互。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04CA0F7C-5802-4C9D-8BAF-57F086A275F5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SCF-Mamba 的模块构成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04B485D6-9343-4ABE-B275-E1C99CF770AF}"/>
              </a:ext>
            </a:extLst>
          </p:cNvPr>
          <p:cNvGraphicFramePr/>
          <p:nvPr/>
        </p:nvGraphicFramePr>
        <p:xfrm>
          <a:off x="1047750" y="2533650"/>
          <a:ext cx="16192500" cy="590550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当前实现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设计作用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SCI 分解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两级递归、根节点及两个子节点共 3 个合并位置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捕捉不同时间尺度的变化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节点双向 Mamba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以局部历史和节点嵌入生成表示；沿节点轴双向扫描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表征路段间差异与依赖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跨序列注意力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 维、4 个注意力头；3 处共享参数；残差门控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合并时交换奇偶分支信息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预测头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恢复序列表示并投影至目标步长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输出多步交通流预测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来源与口径">
            <a:extLst>
              <a:ext uri="{FF2B5EF4-FFF2-40B4-BE49-F238E27FC236}">
                <a16:creationId xmlns:a16="http://schemas.microsoft.com/office/drawing/2014/main" id="{2BAF5F93-F013-4630-8049-75A2CE5C4EF5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模型采用官方 Mamba CUDA 实现；当前版本不包含模式检索修正或动态图卷积。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03E28C26-5AAF-41E9-A042-9BED11A3D48C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SCI：递归奇偶拆分与多尺度交互</a:t>
            </a:r>
          </a:p>
        </p:txBody>
      </p:sp>
      <p:sp>
        <p:nvSpPr>
          <p:cNvPr id="52" name="流程背景">
            <a:extLst>
              <a:ext uri="{FF2B5EF4-FFF2-40B4-BE49-F238E27FC236}">
                <a16:creationId xmlns:a16="http://schemas.microsoft.com/office/drawing/2014/main" id="{E048C7E8-4369-4E4C-886C-D04B7E8DF43A}"/>
              </a:ext>
            </a:extLst>
          </p:cNvPr>
          <p:cNvSpPr>
            <a:spLocks noGrp="1"/>
          </p:cNvSpPr>
          <p:nvPr/>
        </p:nvSpPr>
        <p:spPr>
          <a:xfrm>
            <a:off x="1190625" y="2514600"/>
            <a:ext cx="15859125" cy="4524375"/>
          </a:xfrm>
          <a:prstGeom prst="roundRect">
            <a:avLst>
              <a:gd name="adj" fmla="val 1684"/>
            </a:avLst>
          </a:prstGeom>
          <a:solidFill>
            <a:srgbClr val="F5F8FD"/>
          </a:solidFill>
          <a:ln w="9525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输入序列卡片">
            <a:extLst>
              <a:ext uri="{FF2B5EF4-FFF2-40B4-BE49-F238E27FC236}">
                <a16:creationId xmlns:a16="http://schemas.microsoft.com/office/drawing/2014/main" id="{DCD7A0BE-5E49-4455-8463-C2DE88FDD2DE}"/>
              </a:ext>
            </a:extLst>
          </p:cNvPr>
          <p:cNvSpPr>
            <a:spLocks noGrp="1"/>
          </p:cNvSpPr>
          <p:nvPr/>
        </p:nvSpPr>
        <p:spPr>
          <a:xfrm>
            <a:off x="1428750" y="31242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输入序列标记">
            <a:extLst>
              <a:ext uri="{FF2B5EF4-FFF2-40B4-BE49-F238E27FC236}">
                <a16:creationId xmlns:a16="http://schemas.microsoft.com/office/drawing/2014/main" id="{C90014BA-67AB-4BFB-B694-2BB775D47405}"/>
              </a:ext>
            </a:extLst>
          </p:cNvPr>
          <p:cNvSpPr>
            <a:spLocks noGrp="1"/>
          </p:cNvSpPr>
          <p:nvPr/>
        </p:nvSpPr>
        <p:spPr>
          <a:xfrm>
            <a:off x="1428750" y="3124200"/>
            <a:ext cx="95250" cy="2571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输入序列">
            <a:extLst>
              <a:ext uri="{FF2B5EF4-FFF2-40B4-BE49-F238E27FC236}">
                <a16:creationId xmlns:a16="http://schemas.microsoft.com/office/drawing/2014/main" id="{2CA2E740-CF56-45A9-A645-951DCEB9F587}"/>
              </a:ext>
            </a:extLst>
          </p:cNvPr>
          <p:cNvSpPr>
            <a:spLocks noGrp="1"/>
          </p:cNvSpPr>
          <p:nvPr/>
        </p:nvSpPr>
        <p:spPr>
          <a:xfrm>
            <a:off x="1695450" y="331470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输入序列</a:t>
            </a:r>
          </a:p>
        </p:txBody>
      </p:sp>
      <p:sp>
        <p:nvSpPr>
          <p:cNvPr id="56" name="正文">
            <a:extLst>
              <a:ext uri="{FF2B5EF4-FFF2-40B4-BE49-F238E27FC236}">
                <a16:creationId xmlns:a16="http://schemas.microsoft.com/office/drawing/2014/main" id="{1E88C640-C4C2-4934-9EA8-2CEB4A4CB9EF}"/>
              </a:ext>
            </a:extLst>
          </p:cNvPr>
          <p:cNvSpPr>
            <a:spLocks noGrp="1"/>
          </p:cNvSpPr>
          <p:nvPr/>
        </p:nvSpPr>
        <p:spPr>
          <a:xfrm>
            <a:off x="1695450" y="3962400"/>
            <a:ext cx="2800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57" name="箭头">
            <a:extLst>
              <a:ext uri="{FF2B5EF4-FFF2-40B4-BE49-F238E27FC236}">
                <a16:creationId xmlns:a16="http://schemas.microsoft.com/office/drawing/2014/main" id="{AC6D0617-C402-4E07-8F95-66986C4BE5AE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533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8" name="第 1 级拆分卡片">
            <a:extLst>
              <a:ext uri="{FF2B5EF4-FFF2-40B4-BE49-F238E27FC236}">
                <a16:creationId xmlns:a16="http://schemas.microsoft.com/office/drawing/2014/main" id="{36F85064-D275-48A6-B8A1-19E54AFBDBC1}"/>
              </a:ext>
            </a:extLst>
          </p:cNvPr>
          <p:cNvSpPr>
            <a:spLocks noGrp="1"/>
          </p:cNvSpPr>
          <p:nvPr/>
        </p:nvSpPr>
        <p:spPr>
          <a:xfrm>
            <a:off x="5286375" y="31242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第 1 级拆分标记">
            <a:extLst>
              <a:ext uri="{FF2B5EF4-FFF2-40B4-BE49-F238E27FC236}">
                <a16:creationId xmlns:a16="http://schemas.microsoft.com/office/drawing/2014/main" id="{E89E595F-26F1-449E-BDFD-DCBCC6A8B654}"/>
              </a:ext>
            </a:extLst>
          </p:cNvPr>
          <p:cNvSpPr>
            <a:spLocks noGrp="1"/>
          </p:cNvSpPr>
          <p:nvPr/>
        </p:nvSpPr>
        <p:spPr>
          <a:xfrm>
            <a:off x="5286375" y="3124200"/>
            <a:ext cx="95250" cy="2571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第 1 级拆分">
            <a:extLst>
              <a:ext uri="{FF2B5EF4-FFF2-40B4-BE49-F238E27FC236}">
                <a16:creationId xmlns:a16="http://schemas.microsoft.com/office/drawing/2014/main" id="{DBDEA5A1-6464-40C3-BD7A-C3F35DF39309}"/>
              </a:ext>
            </a:extLst>
          </p:cNvPr>
          <p:cNvSpPr>
            <a:spLocks noGrp="1"/>
          </p:cNvSpPr>
          <p:nvPr/>
        </p:nvSpPr>
        <p:spPr>
          <a:xfrm>
            <a:off x="5553075" y="331470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第 1 级拆分</a:t>
            </a:r>
          </a:p>
        </p:txBody>
      </p:sp>
      <p:sp>
        <p:nvSpPr>
          <p:cNvPr id="61" name="正文">
            <a:extLst>
              <a:ext uri="{FF2B5EF4-FFF2-40B4-BE49-F238E27FC236}">
                <a16:creationId xmlns:a16="http://schemas.microsoft.com/office/drawing/2014/main" id="{DDEF188F-B089-4742-A05B-ECA22E4EFF90}"/>
              </a:ext>
            </a:extLst>
          </p:cNvPr>
          <p:cNvSpPr>
            <a:spLocks noGrp="1"/>
          </p:cNvSpPr>
          <p:nvPr/>
        </p:nvSpPr>
        <p:spPr>
          <a:xfrm>
            <a:off x="5553075" y="3962400"/>
            <a:ext cx="2800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偶序列 / 奇序列</a:t>
            </a:r>
          </a:p>
        </p:txBody>
      </p:sp>
      <p:sp>
        <p:nvSpPr>
          <p:cNvPr id="62" name="箭头">
            <a:extLst>
              <a:ext uri="{FF2B5EF4-FFF2-40B4-BE49-F238E27FC236}">
                <a16:creationId xmlns:a16="http://schemas.microsoft.com/office/drawing/2014/main" id="{5BF28CF3-ECB0-4A91-A93C-72C95244F06C}"/>
              </a:ext>
            </a:extLst>
          </p:cNvPr>
          <p:cNvSpPr>
            <a:spLocks noGrp="1"/>
          </p:cNvSpPr>
          <p:nvPr/>
        </p:nvSpPr>
        <p:spPr>
          <a:xfrm>
            <a:off x="8620125" y="4191000"/>
            <a:ext cx="533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3" name="第 2 级拆分卡片">
            <a:extLst>
              <a:ext uri="{FF2B5EF4-FFF2-40B4-BE49-F238E27FC236}">
                <a16:creationId xmlns:a16="http://schemas.microsoft.com/office/drawing/2014/main" id="{BC14AA1E-9571-44C6-A5C1-1BFC89DA3627}"/>
              </a:ext>
            </a:extLst>
          </p:cNvPr>
          <p:cNvSpPr>
            <a:spLocks noGrp="1"/>
          </p:cNvSpPr>
          <p:nvPr/>
        </p:nvSpPr>
        <p:spPr>
          <a:xfrm>
            <a:off x="9144000" y="31242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第 2 级拆分标记">
            <a:extLst>
              <a:ext uri="{FF2B5EF4-FFF2-40B4-BE49-F238E27FC236}">
                <a16:creationId xmlns:a16="http://schemas.microsoft.com/office/drawing/2014/main" id="{3C6878D0-65A9-4431-9AEF-1B385138AB54}"/>
              </a:ext>
            </a:extLst>
          </p:cNvPr>
          <p:cNvSpPr>
            <a:spLocks noGrp="1"/>
          </p:cNvSpPr>
          <p:nvPr/>
        </p:nvSpPr>
        <p:spPr>
          <a:xfrm>
            <a:off x="9144000" y="3124200"/>
            <a:ext cx="95250" cy="2571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第 2 级拆分">
            <a:extLst>
              <a:ext uri="{FF2B5EF4-FFF2-40B4-BE49-F238E27FC236}">
                <a16:creationId xmlns:a16="http://schemas.microsoft.com/office/drawing/2014/main" id="{3E76D6C6-9B05-4E7F-90DF-2DDF5FDB4F2F}"/>
              </a:ext>
            </a:extLst>
          </p:cNvPr>
          <p:cNvSpPr>
            <a:spLocks noGrp="1"/>
          </p:cNvSpPr>
          <p:nvPr/>
        </p:nvSpPr>
        <p:spPr>
          <a:xfrm>
            <a:off x="9410700" y="331470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第 2 级拆分</a:t>
            </a:r>
          </a:p>
        </p:txBody>
      </p:sp>
      <p:sp>
        <p:nvSpPr>
          <p:cNvPr id="66" name="正文">
            <a:extLst>
              <a:ext uri="{FF2B5EF4-FFF2-40B4-BE49-F238E27FC236}">
                <a16:creationId xmlns:a16="http://schemas.microsoft.com/office/drawing/2014/main" id="{4865B88D-FC43-48A2-A4FB-D78A06E38406}"/>
              </a:ext>
            </a:extLst>
          </p:cNvPr>
          <p:cNvSpPr>
            <a:spLocks noGrp="1"/>
          </p:cNvSpPr>
          <p:nvPr/>
        </p:nvSpPr>
        <p:spPr>
          <a:xfrm>
            <a:off x="9410700" y="3962400"/>
            <a:ext cx="2800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继续拆分两支</a:t>
            </a:r>
          </a:p>
        </p:txBody>
      </p:sp>
      <p:sp>
        <p:nvSpPr>
          <p:cNvPr id="67" name="箭头">
            <a:extLst>
              <a:ext uri="{FF2B5EF4-FFF2-40B4-BE49-F238E27FC236}">
                <a16:creationId xmlns:a16="http://schemas.microsoft.com/office/drawing/2014/main" id="{A9E27A30-265D-4C60-9194-01509B405BCD}"/>
              </a:ext>
            </a:extLst>
          </p:cNvPr>
          <p:cNvSpPr>
            <a:spLocks noGrp="1"/>
          </p:cNvSpPr>
          <p:nvPr/>
        </p:nvSpPr>
        <p:spPr>
          <a:xfrm>
            <a:off x="12477750" y="4191000"/>
            <a:ext cx="533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8" name="交互与重构卡片">
            <a:extLst>
              <a:ext uri="{FF2B5EF4-FFF2-40B4-BE49-F238E27FC236}">
                <a16:creationId xmlns:a16="http://schemas.microsoft.com/office/drawing/2014/main" id="{941A4E84-9C5E-46A5-B38B-0EFEF2E44DD7}"/>
              </a:ext>
            </a:extLst>
          </p:cNvPr>
          <p:cNvSpPr>
            <a:spLocks noGrp="1"/>
          </p:cNvSpPr>
          <p:nvPr/>
        </p:nvSpPr>
        <p:spPr>
          <a:xfrm>
            <a:off x="13001625" y="31242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交互与重构标记">
            <a:extLst>
              <a:ext uri="{FF2B5EF4-FFF2-40B4-BE49-F238E27FC236}">
                <a16:creationId xmlns:a16="http://schemas.microsoft.com/office/drawing/2014/main" id="{6BB7221E-7135-4E04-81B2-18F99D38A250}"/>
              </a:ext>
            </a:extLst>
          </p:cNvPr>
          <p:cNvSpPr>
            <a:spLocks noGrp="1"/>
          </p:cNvSpPr>
          <p:nvPr/>
        </p:nvSpPr>
        <p:spPr>
          <a:xfrm>
            <a:off x="13001625" y="3124200"/>
            <a:ext cx="95250" cy="2571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交互与重构">
            <a:extLst>
              <a:ext uri="{FF2B5EF4-FFF2-40B4-BE49-F238E27FC236}">
                <a16:creationId xmlns:a16="http://schemas.microsoft.com/office/drawing/2014/main" id="{4D0DDD06-9ADA-4E1E-9202-8EDE33431925}"/>
              </a:ext>
            </a:extLst>
          </p:cNvPr>
          <p:cNvSpPr>
            <a:spLocks noGrp="1"/>
          </p:cNvSpPr>
          <p:nvPr/>
        </p:nvSpPr>
        <p:spPr>
          <a:xfrm>
            <a:off x="13268325" y="331470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交互与重构</a:t>
            </a:r>
          </a:p>
        </p:txBody>
      </p:sp>
      <p:sp>
        <p:nvSpPr>
          <p:cNvPr id="71" name="正文">
            <a:extLst>
              <a:ext uri="{FF2B5EF4-FFF2-40B4-BE49-F238E27FC236}">
                <a16:creationId xmlns:a16="http://schemas.microsoft.com/office/drawing/2014/main" id="{F79AB7CE-FB84-4A8F-A0D0-340E18D49BBB}"/>
              </a:ext>
            </a:extLst>
          </p:cNvPr>
          <p:cNvSpPr>
            <a:spLocks noGrp="1"/>
          </p:cNvSpPr>
          <p:nvPr/>
        </p:nvSpPr>
        <p:spPr>
          <a:xfrm>
            <a:off x="13268325" y="3962400"/>
            <a:ext cx="2800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逐级合并预测特征</a:t>
            </a:r>
          </a:p>
        </p:txBody>
      </p:sp>
      <p:sp>
        <p:nvSpPr>
          <p:cNvPr id="72" name="正文">
            <a:extLst>
              <a:ext uri="{FF2B5EF4-FFF2-40B4-BE49-F238E27FC236}">
                <a16:creationId xmlns:a16="http://schemas.microsoft.com/office/drawing/2014/main" id="{FFCC63E2-37C0-425D-933F-7A2831E51A65}"/>
              </a:ext>
            </a:extLst>
          </p:cNvPr>
          <p:cNvSpPr>
            <a:spLocks noGrp="1"/>
          </p:cNvSpPr>
          <p:nvPr/>
        </p:nvSpPr>
        <p:spPr>
          <a:xfrm>
            <a:off x="1381125" y="7477125"/>
            <a:ext cx="151923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7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保留 SCI 原有的缩放、更新和加减交互；在合并前增加节点编码和跨序列注意力。</a:t>
            </a:r>
          </a:p>
        </p:txBody>
      </p:sp>
      <p:sp>
        <p:nvSpPr>
          <p:cNvPr id="73" name="来源与口径">
            <a:extLst>
              <a:ext uri="{FF2B5EF4-FFF2-40B4-BE49-F238E27FC236}">
                <a16:creationId xmlns:a16="http://schemas.microsoft.com/office/drawing/2014/main" id="{D1913327-F154-42A4-A48E-7FFC03FC6547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参考：Liu 等，SCINet，NeurIPS 2022；本页流程是当前实现的简化示意。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8044A765-61EE-419B-8664-9C84BEBE20CF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节点轴双向 Mamba 编码</a:t>
            </a:r>
          </a:p>
        </p:txBody>
      </p:sp>
      <p:sp>
        <p:nvSpPr>
          <p:cNvPr id="52" name="输入特征卡片">
            <a:extLst>
              <a:ext uri="{FF2B5EF4-FFF2-40B4-BE49-F238E27FC236}">
                <a16:creationId xmlns:a16="http://schemas.microsoft.com/office/drawing/2014/main" id="{4109A8EC-91ED-4201-9973-18304B68618B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7524750" cy="4476750"/>
          </a:xfrm>
          <a:prstGeom prst="roundRect">
            <a:avLst>
              <a:gd name="adj" fmla="val 170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输入特征标记">
            <a:extLst>
              <a:ext uri="{FF2B5EF4-FFF2-40B4-BE49-F238E27FC236}">
                <a16:creationId xmlns:a16="http://schemas.microsoft.com/office/drawing/2014/main" id="{B01DE9FA-5D23-4801-B4DC-DCDB8AF19378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95250" cy="4476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输入特征">
            <a:extLst>
              <a:ext uri="{FF2B5EF4-FFF2-40B4-BE49-F238E27FC236}">
                <a16:creationId xmlns:a16="http://schemas.microsoft.com/office/drawing/2014/main" id="{343E14F4-E8FD-4C8F-96A4-C66E1D6325D3}"/>
              </a:ext>
            </a:extLst>
          </p:cNvPr>
          <p:cNvSpPr>
            <a:spLocks noGrp="1"/>
          </p:cNvSpPr>
          <p:nvPr/>
        </p:nvSpPr>
        <p:spPr>
          <a:xfrm>
            <a:off x="1409700" y="28003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输入特征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991B6BA0-7DF1-48E5-9C9F-201C1C6F60C4}"/>
              </a:ext>
            </a:extLst>
          </p:cNvPr>
          <p:cNvSpPr>
            <a:spLocks noGrp="1"/>
          </p:cNvSpPr>
          <p:nvPr/>
        </p:nvSpPr>
        <p:spPr>
          <a:xfrm>
            <a:off x="1409700" y="3448050"/>
            <a:ext cx="699135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局部历史窗口 → 128 维特征；叠加可学习节点嵌入和 64 维日历信息。</a:t>
            </a:r>
          </a:p>
        </p:txBody>
      </p:sp>
      <p:sp>
        <p:nvSpPr>
          <p:cNvPr id="56" name="双向扫描卡片">
            <a:extLst>
              <a:ext uri="{FF2B5EF4-FFF2-40B4-BE49-F238E27FC236}">
                <a16:creationId xmlns:a16="http://schemas.microsoft.com/office/drawing/2014/main" id="{C9C2283D-676A-43AB-99A5-906B401303FF}"/>
              </a:ext>
            </a:extLst>
          </p:cNvPr>
          <p:cNvSpPr>
            <a:spLocks noGrp="1"/>
          </p:cNvSpPr>
          <p:nvPr/>
        </p:nvSpPr>
        <p:spPr>
          <a:xfrm>
            <a:off x="9572625" y="2609850"/>
            <a:ext cx="7524750" cy="4476750"/>
          </a:xfrm>
          <a:prstGeom prst="roundRect">
            <a:avLst>
              <a:gd name="adj" fmla="val 170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双向扫描标记">
            <a:extLst>
              <a:ext uri="{FF2B5EF4-FFF2-40B4-BE49-F238E27FC236}">
                <a16:creationId xmlns:a16="http://schemas.microsoft.com/office/drawing/2014/main" id="{5983AAC6-C12B-447F-B36B-5788EC2B952D}"/>
              </a:ext>
            </a:extLst>
          </p:cNvPr>
          <p:cNvSpPr>
            <a:spLocks noGrp="1"/>
          </p:cNvSpPr>
          <p:nvPr/>
        </p:nvSpPr>
        <p:spPr>
          <a:xfrm>
            <a:off x="9572625" y="2609850"/>
            <a:ext cx="95250" cy="4476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双向扫描">
            <a:extLst>
              <a:ext uri="{FF2B5EF4-FFF2-40B4-BE49-F238E27FC236}">
                <a16:creationId xmlns:a16="http://schemas.microsoft.com/office/drawing/2014/main" id="{4DD07CB7-C773-4CC9-8D5A-FAF882026A1D}"/>
              </a:ext>
            </a:extLst>
          </p:cNvPr>
          <p:cNvSpPr>
            <a:spLocks noGrp="1"/>
          </p:cNvSpPr>
          <p:nvPr/>
        </p:nvSpPr>
        <p:spPr>
          <a:xfrm>
            <a:off x="9839325" y="28003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双向扫描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478FB12E-0D0C-4CBA-A445-5943AF771BE5}"/>
              </a:ext>
            </a:extLst>
          </p:cNvPr>
          <p:cNvSpPr>
            <a:spLocks noGrp="1"/>
          </p:cNvSpPr>
          <p:nvPr/>
        </p:nvSpPr>
        <p:spPr>
          <a:xfrm>
            <a:off x="9839325" y="3448050"/>
            <a:ext cx="699135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前向与反向 Mamba 沿节点维建模，再融合两个方向的表示。</a:t>
            </a:r>
          </a:p>
        </p:txBody>
      </p:sp>
      <p:sp>
        <p:nvSpPr>
          <p:cNvPr id="60" name="强调">
            <a:extLst>
              <a:ext uri="{FF2B5EF4-FFF2-40B4-BE49-F238E27FC236}">
                <a16:creationId xmlns:a16="http://schemas.microsoft.com/office/drawing/2014/main" id="{AA60CE45-2A93-4B12-84AC-17174D475C0F}"/>
              </a:ext>
            </a:extLst>
          </p:cNvPr>
          <p:cNvSpPr>
            <a:spLocks noGrp="1"/>
          </p:cNvSpPr>
          <p:nvPr/>
        </p:nvSpPr>
        <p:spPr>
          <a:xfrm>
            <a:off x="1143000" y="7524750"/>
            <a:ext cx="15954375" cy="100965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正文">
            <a:extLst>
              <a:ext uri="{FF2B5EF4-FFF2-40B4-BE49-F238E27FC236}">
                <a16:creationId xmlns:a16="http://schemas.microsoft.com/office/drawing/2014/main" id="{3124E755-F583-48ED-8BBA-ACD7F2435ABF}"/>
              </a:ext>
            </a:extLst>
          </p:cNvPr>
          <p:cNvSpPr>
            <a:spLocks noGrp="1"/>
          </p:cNvSpPr>
          <p:nvPr/>
        </p:nvSpPr>
        <p:spPr>
          <a:xfrm>
            <a:off x="1476375" y="7715250"/>
            <a:ext cx="1524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此模块编码节点间关系；多尺度时间变化主要由 SCI 递归结构承担。</a:t>
            </a:r>
          </a:p>
        </p:txBody>
      </p:sp>
      <p:sp>
        <p:nvSpPr>
          <p:cNvPr id="62" name="来源与口径">
            <a:extLst>
              <a:ext uri="{FF2B5EF4-FFF2-40B4-BE49-F238E27FC236}">
                <a16:creationId xmlns:a16="http://schemas.microsoft.com/office/drawing/2014/main" id="{40EA07A0-9539-4F87-9C70-F0F71EC82F8A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实现参数：d_state=32，d_conv=2，expand=1；具体实验均采用同一份模型配置。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1EEB5698-DEB0-460E-98E2-4233D9668349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合并前跨序列注意力</a:t>
            </a:r>
          </a:p>
        </p:txBody>
      </p:sp>
      <p:sp>
        <p:nvSpPr>
          <p:cNvPr id="52" name="奇偶分支互读卡片">
            <a:extLst>
              <a:ext uri="{FF2B5EF4-FFF2-40B4-BE49-F238E27FC236}">
                <a16:creationId xmlns:a16="http://schemas.microsoft.com/office/drawing/2014/main" id="{62780C38-0B6C-400D-9EF9-86F4574EF5DC}"/>
              </a:ext>
            </a:extLst>
          </p:cNvPr>
          <p:cNvSpPr>
            <a:spLocks noGrp="1"/>
          </p:cNvSpPr>
          <p:nvPr/>
        </p:nvSpPr>
        <p:spPr>
          <a:xfrm>
            <a:off x="1190625" y="2600325"/>
            <a:ext cx="7524750" cy="4095750"/>
          </a:xfrm>
          <a:prstGeom prst="roundRect">
            <a:avLst>
              <a:gd name="adj" fmla="val 1860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奇偶分支互读标记">
            <a:extLst>
              <a:ext uri="{FF2B5EF4-FFF2-40B4-BE49-F238E27FC236}">
                <a16:creationId xmlns:a16="http://schemas.microsoft.com/office/drawing/2014/main" id="{387D0CA1-E8FB-4C4E-B9F5-45D77AC85ABF}"/>
              </a:ext>
            </a:extLst>
          </p:cNvPr>
          <p:cNvSpPr>
            <a:spLocks noGrp="1"/>
          </p:cNvSpPr>
          <p:nvPr/>
        </p:nvSpPr>
        <p:spPr>
          <a:xfrm>
            <a:off x="1190625" y="2600325"/>
            <a:ext cx="95250" cy="4095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奇偶分支互读">
            <a:extLst>
              <a:ext uri="{FF2B5EF4-FFF2-40B4-BE49-F238E27FC236}">
                <a16:creationId xmlns:a16="http://schemas.microsoft.com/office/drawing/2014/main" id="{A5A19004-53B5-4C41-A588-88BC5332AD43}"/>
              </a:ext>
            </a:extLst>
          </p:cNvPr>
          <p:cNvSpPr>
            <a:spLocks noGrp="1"/>
          </p:cNvSpPr>
          <p:nvPr/>
        </p:nvSpPr>
        <p:spPr>
          <a:xfrm>
            <a:off x="1457325" y="2790825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奇偶分支互读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A8EAC10F-BFCB-407B-8B16-E395C8A5E195}"/>
              </a:ext>
            </a:extLst>
          </p:cNvPr>
          <p:cNvSpPr>
            <a:spLocks noGrp="1"/>
          </p:cNvSpPr>
          <p:nvPr/>
        </p:nvSpPr>
        <p:spPr>
          <a:xfrm>
            <a:off x="1457325" y="3438525"/>
            <a:ext cx="69913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偶分支以奇分支原始状态为 Key/Value；奇分支反向读取偶分支。</a:t>
            </a:r>
          </a:p>
        </p:txBody>
      </p:sp>
      <p:sp>
        <p:nvSpPr>
          <p:cNvPr id="56" name="共享与门控卡片">
            <a:extLst>
              <a:ext uri="{FF2B5EF4-FFF2-40B4-BE49-F238E27FC236}">
                <a16:creationId xmlns:a16="http://schemas.microsoft.com/office/drawing/2014/main" id="{671803C7-8EA5-4F66-890E-E2763F3B480E}"/>
              </a:ext>
            </a:extLst>
          </p:cNvPr>
          <p:cNvSpPr>
            <a:spLocks noGrp="1"/>
          </p:cNvSpPr>
          <p:nvPr/>
        </p:nvSpPr>
        <p:spPr>
          <a:xfrm>
            <a:off x="9620250" y="2600325"/>
            <a:ext cx="7524750" cy="4095750"/>
          </a:xfrm>
          <a:prstGeom prst="roundRect">
            <a:avLst>
              <a:gd name="adj" fmla="val 1860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共享与门控标记">
            <a:extLst>
              <a:ext uri="{FF2B5EF4-FFF2-40B4-BE49-F238E27FC236}">
                <a16:creationId xmlns:a16="http://schemas.microsoft.com/office/drawing/2014/main" id="{09729099-8E7B-4805-9142-2930DACE2D94}"/>
              </a:ext>
            </a:extLst>
          </p:cNvPr>
          <p:cNvSpPr>
            <a:spLocks noGrp="1"/>
          </p:cNvSpPr>
          <p:nvPr/>
        </p:nvSpPr>
        <p:spPr>
          <a:xfrm>
            <a:off x="9620250" y="2600325"/>
            <a:ext cx="95250" cy="4095750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共享与门控">
            <a:extLst>
              <a:ext uri="{FF2B5EF4-FFF2-40B4-BE49-F238E27FC236}">
                <a16:creationId xmlns:a16="http://schemas.microsoft.com/office/drawing/2014/main" id="{0BE331CE-9BE3-4C5F-9645-DAE68E6C763D}"/>
              </a:ext>
            </a:extLst>
          </p:cNvPr>
          <p:cNvSpPr>
            <a:spLocks noGrp="1"/>
          </p:cNvSpPr>
          <p:nvPr/>
        </p:nvSpPr>
        <p:spPr>
          <a:xfrm>
            <a:off x="9886950" y="2790825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共享与门控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6041D9C5-25F0-4014-9056-2540BCCEB53B}"/>
              </a:ext>
            </a:extLst>
          </p:cNvPr>
          <p:cNvSpPr>
            <a:spLocks noGrp="1"/>
          </p:cNvSpPr>
          <p:nvPr/>
        </p:nvSpPr>
        <p:spPr>
          <a:xfrm>
            <a:off x="9886950" y="3438525"/>
            <a:ext cx="69913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三处合并位置共享 4 头、64 维注意力；残差门控以零为初始值。</a:t>
            </a:r>
          </a:p>
        </p:txBody>
      </p:sp>
      <p:sp>
        <p:nvSpPr>
          <p:cNvPr id="60" name="结论提示">
            <a:extLst>
              <a:ext uri="{FF2B5EF4-FFF2-40B4-BE49-F238E27FC236}">
                <a16:creationId xmlns:a16="http://schemas.microsoft.com/office/drawing/2014/main" id="{3B3D6531-9B36-4A7B-BC0C-93A879028D04}"/>
              </a:ext>
            </a:extLst>
          </p:cNvPr>
          <p:cNvSpPr>
            <a:spLocks noGrp="1"/>
          </p:cNvSpPr>
          <p:nvPr/>
        </p:nvSpPr>
        <p:spPr>
          <a:xfrm>
            <a:off x="1190625" y="7286625"/>
            <a:ext cx="15954375" cy="123825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正文">
            <a:extLst>
              <a:ext uri="{FF2B5EF4-FFF2-40B4-BE49-F238E27FC236}">
                <a16:creationId xmlns:a16="http://schemas.microsoft.com/office/drawing/2014/main" id="{7341CC6E-B038-443E-8EA8-7F5787A25F13}"/>
              </a:ext>
            </a:extLst>
          </p:cNvPr>
          <p:cNvSpPr>
            <a:spLocks noGrp="1"/>
          </p:cNvSpPr>
          <p:nvPr/>
        </p:nvSpPr>
        <p:spPr>
          <a:xfrm>
            <a:off x="1524000" y="7515225"/>
            <a:ext cx="1524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合并前补充两个子序列的信息交换，同时保留原有 SCI 加减更新路径。</a:t>
            </a:r>
          </a:p>
        </p:txBody>
      </p:sp>
      <p:sp>
        <p:nvSpPr>
          <p:cNvPr id="62" name="来源与口径">
            <a:extLst>
              <a:ext uri="{FF2B5EF4-FFF2-40B4-BE49-F238E27FC236}">
                <a16:creationId xmlns:a16="http://schemas.microsoft.com/office/drawing/2014/main" id="{B0FED40A-DB03-4C00-94ED-941064D5C28F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实验中的 B/G5 结构最终命名为 SCF-Mamba。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9693EF88-8F4E-4EEF-BE29-FCA6F789DF7C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数据集与训练设置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4832DBFA-8E40-4D48-8978-42040F6655B2}"/>
              </a:ext>
            </a:extLst>
          </p:cNvPr>
          <p:cNvGraphicFramePr/>
          <p:nvPr/>
        </p:nvGraphicFramePr>
        <p:xfrm>
          <a:off x="1143000" y="2505075"/>
          <a:ext cx="16002000" cy="5381628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PEMS04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PEMS08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监测节点数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307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样本时间点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16,992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17,856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采样间隔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分钟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分钟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数据划分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: 2 : 2，按时间顺序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: 2 : 2，按时间顺序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/ 输出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→ 12 / 24 / 48 / 96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→ 12 / 24 / 48 / 96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" name="训练设置">
            <a:extLst>
              <a:ext uri="{FF2B5EF4-FFF2-40B4-BE49-F238E27FC236}">
                <a16:creationId xmlns:a16="http://schemas.microsoft.com/office/drawing/2014/main" id="{06969324-C7FD-4449-88D1-A3CF254479E7}"/>
              </a:ext>
            </a:extLst>
          </p:cNvPr>
          <p:cNvSpPr>
            <a:spLocks noGrp="1"/>
          </p:cNvSpPr>
          <p:nvPr/>
        </p:nvSpPr>
        <p:spPr>
          <a:xfrm>
            <a:off x="1143000" y="8201025"/>
            <a:ext cx="16002000" cy="866775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正文">
            <a:extLst>
              <a:ext uri="{FF2B5EF4-FFF2-40B4-BE49-F238E27FC236}">
                <a16:creationId xmlns:a16="http://schemas.microsoft.com/office/drawing/2014/main" id="{DF974364-17F7-4D4E-A4B7-915167E349D9}"/>
              </a:ext>
            </a:extLst>
          </p:cNvPr>
          <p:cNvSpPr>
            <a:spLocks noGrp="1"/>
          </p:cNvSpPr>
          <p:nvPr/>
        </p:nvSpPr>
        <p:spPr>
          <a:xfrm>
            <a:off x="1428750" y="8353425"/>
            <a:ext cx="15382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种子 4321；batch 64；每组 80 轮；Adam 学习率 0.001；TF32 开启，AMP 关闭。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EB515749-5858-4B30-8DE1-0EF54EA68253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掩码损失与评估口径</a:t>
            </a:r>
          </a:p>
        </p:txBody>
      </p:sp>
      <p:sp>
        <p:nvSpPr>
          <p:cNvPr id="52" name="训练损失卡片">
            <a:extLst>
              <a:ext uri="{FF2B5EF4-FFF2-40B4-BE49-F238E27FC236}">
                <a16:creationId xmlns:a16="http://schemas.microsoft.com/office/drawing/2014/main" id="{DE051BDF-81BE-44FC-8E6D-372B75A31134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7524750" cy="4048125"/>
          </a:xfrm>
          <a:prstGeom prst="roundRect">
            <a:avLst>
              <a:gd name="adj" fmla="val 188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训练损失标记">
            <a:extLst>
              <a:ext uri="{FF2B5EF4-FFF2-40B4-BE49-F238E27FC236}">
                <a16:creationId xmlns:a16="http://schemas.microsoft.com/office/drawing/2014/main" id="{94C80180-E931-431C-93BB-2360DBC11364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95250" cy="4048125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训练损失">
            <a:extLst>
              <a:ext uri="{FF2B5EF4-FFF2-40B4-BE49-F238E27FC236}">
                <a16:creationId xmlns:a16="http://schemas.microsoft.com/office/drawing/2014/main" id="{9F459186-3E8D-42B0-972B-308EA6989A4C}"/>
              </a:ext>
            </a:extLst>
          </p:cNvPr>
          <p:cNvSpPr>
            <a:spLocks noGrp="1"/>
          </p:cNvSpPr>
          <p:nvPr/>
        </p:nvSpPr>
        <p:spPr>
          <a:xfrm>
            <a:off x="1409700" y="27622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训练损失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5911312A-53CD-45E4-8155-0D64536519C4}"/>
              </a:ext>
            </a:extLst>
          </p:cNvPr>
          <p:cNvSpPr>
            <a:spLocks noGrp="1"/>
          </p:cNvSpPr>
          <p:nvPr/>
        </p:nvSpPr>
        <p:spPr>
          <a:xfrm>
            <a:off x="1409700" y="3409950"/>
            <a:ext cx="69913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有效位置由原始目标值是否为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 0 </a:t>
            </a: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判定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 dirty="0" err="1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在归一化空间，只对有效位置计算</a:t>
            </a:r>
            <a:r>
              <a:rPr sz="2325" b="0" dirty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 MAE。</a:t>
            </a:r>
          </a:p>
        </p:txBody>
      </p:sp>
      <p:sp>
        <p:nvSpPr>
          <p:cNvPr id="56" name="模型选择与测试卡片">
            <a:extLst>
              <a:ext uri="{FF2B5EF4-FFF2-40B4-BE49-F238E27FC236}">
                <a16:creationId xmlns:a16="http://schemas.microsoft.com/office/drawing/2014/main" id="{0438EAED-D5F1-4B60-9737-4780CAD5A4F6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7524750" cy="4048125"/>
          </a:xfrm>
          <a:prstGeom prst="roundRect">
            <a:avLst>
              <a:gd name="adj" fmla="val 1882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模型选择与测试标记">
            <a:extLst>
              <a:ext uri="{FF2B5EF4-FFF2-40B4-BE49-F238E27FC236}">
                <a16:creationId xmlns:a16="http://schemas.microsoft.com/office/drawing/2014/main" id="{00C52CCA-970F-400E-B2EC-9D9FDA7660D3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95250" cy="4048125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模型选择与测试">
            <a:extLst>
              <a:ext uri="{FF2B5EF4-FFF2-40B4-BE49-F238E27FC236}">
                <a16:creationId xmlns:a16="http://schemas.microsoft.com/office/drawing/2014/main" id="{F26A82BF-683E-402C-90D6-55B8660A2F72}"/>
              </a:ext>
            </a:extLst>
          </p:cNvPr>
          <p:cNvSpPr>
            <a:spLocks noGrp="1"/>
          </p:cNvSpPr>
          <p:nvPr/>
        </p:nvSpPr>
        <p:spPr>
          <a:xfrm>
            <a:off x="9867900" y="27622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模型选择与测试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FC2BE6F5-E805-4E51-B116-7FBF489C936C}"/>
              </a:ext>
            </a:extLst>
          </p:cNvPr>
          <p:cNvSpPr>
            <a:spLocks noGrp="1"/>
          </p:cNvSpPr>
          <p:nvPr/>
        </p:nvSpPr>
        <p:spPr>
          <a:xfrm>
            <a:off x="9867900" y="3409950"/>
            <a:ext cx="69913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验证集用原始量纲、有效位置的全预测区间 MAE 选最佳轮次；测试集报告最佳模型。</a:t>
            </a:r>
          </a:p>
        </p:txBody>
      </p:sp>
      <p:sp>
        <p:nvSpPr>
          <p:cNvPr id="60" name="指标提醒">
            <a:extLst>
              <a:ext uri="{FF2B5EF4-FFF2-40B4-BE49-F238E27FC236}">
                <a16:creationId xmlns:a16="http://schemas.microsoft.com/office/drawing/2014/main" id="{FAF2747D-789F-4671-8016-2FDEC24B6D7C}"/>
              </a:ext>
            </a:extLst>
          </p:cNvPr>
          <p:cNvSpPr>
            <a:spLocks noGrp="1"/>
          </p:cNvSpPr>
          <p:nvPr/>
        </p:nvSpPr>
        <p:spPr>
          <a:xfrm>
            <a:off x="1143000" y="7286625"/>
            <a:ext cx="15982950" cy="123825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正文">
            <a:extLst>
              <a:ext uri="{FF2B5EF4-FFF2-40B4-BE49-F238E27FC236}">
                <a16:creationId xmlns:a16="http://schemas.microsoft.com/office/drawing/2014/main" id="{70B56A62-8CFC-40A6-B01A-D0FAFA06991C}"/>
              </a:ext>
            </a:extLst>
          </p:cNvPr>
          <p:cNvSpPr>
            <a:spLocks noGrp="1"/>
          </p:cNvSpPr>
          <p:nvPr/>
        </p:nvSpPr>
        <p:spPr>
          <a:xfrm>
            <a:off x="1476375" y="7534275"/>
            <a:ext cx="1524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训练主表使用原始量纲 + 掩码 + 全预测区间；论文对比图使用标准化量纲与其原表口径。</a:t>
            </a:r>
          </a:p>
        </p:txBody>
      </p:sp>
      <p:sp>
        <p:nvSpPr>
          <p:cNvPr id="62" name="来源与口径">
            <a:extLst>
              <a:ext uri="{FF2B5EF4-FFF2-40B4-BE49-F238E27FC236}">
                <a16:creationId xmlns:a16="http://schemas.microsoft.com/office/drawing/2014/main" id="{E6A345D4-386A-47B7-8999-EC3D3F3757C7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两种表的数值单位不同，不能跨表直接比较。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7B73FC67-4906-483D-84BA-362423BCD0F5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PEMS04：四个预测长度的测试结果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8D080855-8624-4BAD-BF62-4438E8DDBA37}"/>
              </a:ext>
            </a:extLst>
          </p:cNvPr>
          <p:cNvGraphicFramePr/>
          <p:nvPr/>
        </p:nvGraphicFramePr>
        <p:xfrm>
          <a:off x="1066800" y="2695575"/>
          <a:ext cx="16192500" cy="519112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预测长度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RMSE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(%)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最佳轮次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18.894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931.724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30.524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13.470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20.037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1051.030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32.420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22.278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1307.073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36.153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15.589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23.793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1489.685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38.596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17.044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正文">
            <a:extLst>
              <a:ext uri="{FF2B5EF4-FFF2-40B4-BE49-F238E27FC236}">
                <a16:creationId xmlns:a16="http://schemas.microsoft.com/office/drawing/2014/main" id="{96338F63-145D-4958-AE32-F427CAD8E90E}"/>
              </a:ext>
            </a:extLst>
          </p:cNvPr>
          <p:cNvSpPr>
            <a:spLocks noGrp="1"/>
          </p:cNvSpPr>
          <p:nvPr/>
        </p:nvSpPr>
        <p:spPr>
          <a:xfrm>
            <a:off x="1285875" y="8286750"/>
            <a:ext cx="1571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输入 96 步；输出从 12 步延伸至 96 步。12 步 MAE 为 18.894，96 步为 23.793。</a:t>
            </a:r>
          </a:p>
        </p:txBody>
      </p:sp>
      <p:sp>
        <p:nvSpPr>
          <p:cNvPr id="54" name="来源与口径">
            <a:extLst>
              <a:ext uri="{FF2B5EF4-FFF2-40B4-BE49-F238E27FC236}">
                <a16:creationId xmlns:a16="http://schemas.microsoft.com/office/drawing/2014/main" id="{4D8E33A8-510D-436A-A81E-3DF924C92955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原始量纲、有效值掩码、全预测区间；单次训练，seed=4321。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DCDBECF1-2833-46DC-81BE-DEB10EE85398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PEMS08：四个预测长度的测试结果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54D694DC-F84E-4EBA-9E97-53274CD455CC}"/>
              </a:ext>
            </a:extLst>
          </p:cNvPr>
          <p:cNvGraphicFramePr/>
          <p:nvPr/>
        </p:nvGraphicFramePr>
        <p:xfrm>
          <a:off x="1066800" y="2695575"/>
          <a:ext cx="16192500" cy="519112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预测长度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RMSE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(%)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最佳轮次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14.824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564.435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23.758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9.550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16.544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711.896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26.681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10.677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18.664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911.156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30.185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12.272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20.339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1114.102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33.378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13.107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正文">
            <a:extLst>
              <a:ext uri="{FF2B5EF4-FFF2-40B4-BE49-F238E27FC236}">
                <a16:creationId xmlns:a16="http://schemas.microsoft.com/office/drawing/2014/main" id="{891BBACA-466E-4121-A797-F4DC42518A2E}"/>
              </a:ext>
            </a:extLst>
          </p:cNvPr>
          <p:cNvSpPr>
            <a:spLocks noGrp="1"/>
          </p:cNvSpPr>
          <p:nvPr/>
        </p:nvSpPr>
        <p:spPr>
          <a:xfrm>
            <a:off x="1285875" y="8286750"/>
            <a:ext cx="1571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输入 96 步；输出从 12 步延伸至 96 步。12 步 MAE 为 14.824，96 步为 20.339。</a:t>
            </a:r>
          </a:p>
        </p:txBody>
      </p:sp>
      <p:sp>
        <p:nvSpPr>
          <p:cNvPr id="54" name="来源与口径">
            <a:extLst>
              <a:ext uri="{FF2B5EF4-FFF2-40B4-BE49-F238E27FC236}">
                <a16:creationId xmlns:a16="http://schemas.microsoft.com/office/drawing/2014/main" id="{52D8A991-F182-4132-A017-578A36168E64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原始量纲、有效值掩码、全预测区间；单次训练，seed=4321。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FB5CC119-7C12-4BFD-98E4-42C21BE80EE1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 dirty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论文对比实验：PEMS04 与 PEMS08</a:t>
            </a:r>
          </a:p>
        </p:txBody>
      </p:sp>
      <p:sp>
        <p:nvSpPr>
          <p:cNvPr id="52" name="原图白底">
            <a:extLst>
              <a:ext uri="{FF2B5EF4-FFF2-40B4-BE49-F238E27FC236}">
                <a16:creationId xmlns:a16="http://schemas.microsoft.com/office/drawing/2014/main" id="{E484A933-8468-4C00-916A-5F2934ED7CF3}"/>
              </a:ext>
            </a:extLst>
          </p:cNvPr>
          <p:cNvSpPr>
            <a:spLocks noGrp="1"/>
          </p:cNvSpPr>
          <p:nvPr/>
        </p:nvSpPr>
        <p:spPr>
          <a:xfrm>
            <a:off x="1238251" y="2771775"/>
            <a:ext cx="16230600" cy="491115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B8956C81-7544-4449-8769-11F49ACF26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2" b="21305"/>
          <a:stretch>
            <a:fillRect/>
          </a:stretch>
        </p:blipFill>
        <p:spPr>
          <a:xfrm>
            <a:off x="1161641" y="3291774"/>
            <a:ext cx="16098737" cy="4384303"/>
          </a:xfrm>
          <a:prstGeom prst="rect">
            <a:avLst/>
          </a:prstGeom>
        </p:spPr>
      </p:pic>
      <p:sp>
        <p:nvSpPr>
          <p:cNvPr id="54" name="正文">
            <a:extLst>
              <a:ext uri="{FF2B5EF4-FFF2-40B4-BE49-F238E27FC236}">
                <a16:creationId xmlns:a16="http://schemas.microsoft.com/office/drawing/2014/main" id="{5D1A89E9-B3E1-485C-A0E1-813AEA72393C}"/>
              </a:ext>
            </a:extLst>
          </p:cNvPr>
          <p:cNvSpPr>
            <a:spLocks noGrp="1"/>
          </p:cNvSpPr>
          <p:nvPr/>
        </p:nvSpPr>
        <p:spPr>
          <a:xfrm>
            <a:off x="1238250" y="8582025"/>
            <a:ext cx="15811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0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 dirty="0" err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图中：SCF-Mamba</a:t>
            </a:r>
            <a:r>
              <a:rPr sz="2100" b="0" dirty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100" b="0" dirty="0" err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位于最左侧并标注</a:t>
            </a:r>
            <a:r>
              <a:rPr sz="2100" b="0" dirty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100" b="0" dirty="0" err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Ours；粗体表示最优，下划线表示第二优</a:t>
            </a:r>
            <a:r>
              <a:rPr sz="2100" b="0" dirty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5" name="来源与口径">
            <a:extLst>
              <a:ext uri="{FF2B5EF4-FFF2-40B4-BE49-F238E27FC236}">
                <a16:creationId xmlns:a16="http://schemas.microsoft.com/office/drawing/2014/main" id="{9D1BBC2C-B9E5-484B-8811-4B203914799B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原图完整嵌入；对比图数值为标准化口径，其他模型来源于原论文或历史重评估。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801C46B1-B4F9-46A2-85BF-65F7EE2BA76F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结果解读与可比性边界</a:t>
            </a:r>
          </a:p>
        </p:txBody>
      </p:sp>
      <p:sp>
        <p:nvSpPr>
          <p:cNvPr id="52" name="与 SCINet 对比卡片">
            <a:extLst>
              <a:ext uri="{FF2B5EF4-FFF2-40B4-BE49-F238E27FC236}">
                <a16:creationId xmlns:a16="http://schemas.microsoft.com/office/drawing/2014/main" id="{41B412A6-BB1C-4A46-A297-4D58056FA877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7524750" cy="3667125"/>
          </a:xfrm>
          <a:prstGeom prst="roundRect">
            <a:avLst>
              <a:gd name="adj" fmla="val 2078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与 SCINet 对比标记">
            <a:extLst>
              <a:ext uri="{FF2B5EF4-FFF2-40B4-BE49-F238E27FC236}">
                <a16:creationId xmlns:a16="http://schemas.microsoft.com/office/drawing/2014/main" id="{06056890-5AFF-4483-9577-DB1DF4C733C5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95250" cy="3667125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与 SCINet 对比">
            <a:extLst>
              <a:ext uri="{FF2B5EF4-FFF2-40B4-BE49-F238E27FC236}">
                <a16:creationId xmlns:a16="http://schemas.microsoft.com/office/drawing/2014/main" id="{8CA19D41-E6D9-438F-B8BC-2995E0DB1C1E}"/>
              </a:ext>
            </a:extLst>
          </p:cNvPr>
          <p:cNvSpPr>
            <a:spLocks noGrp="1"/>
          </p:cNvSpPr>
          <p:nvPr/>
        </p:nvSpPr>
        <p:spPr>
          <a:xfrm>
            <a:off x="1409700" y="27622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与 SCINet 对比</a:t>
            </a:r>
          </a:p>
        </p:txBody>
      </p:sp>
      <p:sp>
        <p:nvSpPr>
          <p:cNvPr id="55" name="正文">
            <a:extLst>
              <a:ext uri="{FF2B5EF4-FFF2-40B4-BE49-F238E27FC236}">
                <a16:creationId xmlns:a16="http://schemas.microsoft.com/office/drawing/2014/main" id="{61032148-1742-4276-B21D-4EA8B6D6D435}"/>
              </a:ext>
            </a:extLst>
          </p:cNvPr>
          <p:cNvSpPr>
            <a:spLocks noGrp="1"/>
          </p:cNvSpPr>
          <p:nvPr/>
        </p:nvSpPr>
        <p:spPr>
          <a:xfrm>
            <a:off x="1409700" y="3409950"/>
            <a:ext cx="699135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四个预测长度平均 MAE：PEMS04 下降约 4.65%；PEMS08 下降约 20.46%。</a:t>
            </a:r>
          </a:p>
        </p:txBody>
      </p:sp>
      <p:sp>
        <p:nvSpPr>
          <p:cNvPr id="56" name="与 DST-Mamba 对比卡片">
            <a:extLst>
              <a:ext uri="{FF2B5EF4-FFF2-40B4-BE49-F238E27FC236}">
                <a16:creationId xmlns:a16="http://schemas.microsoft.com/office/drawing/2014/main" id="{725193B2-DD16-4B8D-8D5A-79FC5781A89B}"/>
              </a:ext>
            </a:extLst>
          </p:cNvPr>
          <p:cNvSpPr>
            <a:spLocks noGrp="1"/>
          </p:cNvSpPr>
          <p:nvPr/>
        </p:nvSpPr>
        <p:spPr>
          <a:xfrm>
            <a:off x="9620250" y="2571750"/>
            <a:ext cx="7524750" cy="3667125"/>
          </a:xfrm>
          <a:prstGeom prst="roundRect">
            <a:avLst>
              <a:gd name="adj" fmla="val 2078"/>
            </a:avLst>
          </a:prstGeom>
          <a:solidFill>
            <a:srgbClr val="F5F8FD"/>
          </a:solidFill>
          <a:ln w="9525">
            <a:solidFill>
              <a:srgbClr val="B9CC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与 DST-Mamba 对比标记">
            <a:extLst>
              <a:ext uri="{FF2B5EF4-FFF2-40B4-BE49-F238E27FC236}">
                <a16:creationId xmlns:a16="http://schemas.microsoft.com/office/drawing/2014/main" id="{3602EC73-F6F7-494A-B4C5-54908F45E498}"/>
              </a:ext>
            </a:extLst>
          </p:cNvPr>
          <p:cNvSpPr>
            <a:spLocks noGrp="1"/>
          </p:cNvSpPr>
          <p:nvPr/>
        </p:nvSpPr>
        <p:spPr>
          <a:xfrm>
            <a:off x="9620250" y="2571750"/>
            <a:ext cx="95250" cy="3667125"/>
          </a:xfrm>
          <a:prstGeom prst="rect">
            <a:avLst/>
          </a:prstGeom>
          <a:solidFill>
            <a:srgbClr val="063D9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与 DST-Mamba 对比">
            <a:extLst>
              <a:ext uri="{FF2B5EF4-FFF2-40B4-BE49-F238E27FC236}">
                <a16:creationId xmlns:a16="http://schemas.microsoft.com/office/drawing/2014/main" id="{AA45B46C-2DA3-4F15-BC99-2B21AAD9BC00}"/>
              </a:ext>
            </a:extLst>
          </p:cNvPr>
          <p:cNvSpPr>
            <a:spLocks noGrp="1"/>
          </p:cNvSpPr>
          <p:nvPr/>
        </p:nvSpPr>
        <p:spPr>
          <a:xfrm>
            <a:off x="9886950" y="2762250"/>
            <a:ext cx="699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与 DST-Mamba 对比</a:t>
            </a:r>
          </a:p>
        </p:txBody>
      </p:sp>
      <p:sp>
        <p:nvSpPr>
          <p:cNvPr id="59" name="正文">
            <a:extLst>
              <a:ext uri="{FF2B5EF4-FFF2-40B4-BE49-F238E27FC236}">
                <a16:creationId xmlns:a16="http://schemas.microsoft.com/office/drawing/2014/main" id="{7C5CA1CB-F907-4424-98F9-202CF239F5AA}"/>
              </a:ext>
            </a:extLst>
          </p:cNvPr>
          <p:cNvSpPr>
            <a:spLocks noGrp="1"/>
          </p:cNvSpPr>
          <p:nvPr/>
        </p:nvSpPr>
        <p:spPr>
          <a:xfrm>
            <a:off x="9886950" y="3409950"/>
            <a:ext cx="699135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17314F"/>
                </a:solidFill>
                <a:latin typeface="微软雅黑"/>
                <a:ea typeface="微软雅黑"/>
                <a:cs typeface="微软雅黑"/>
              </a:rPr>
              <a:t>PEMS04 的 MSE/MAE 四档均较低；PEMS08 的 MAE 四档较低，但 MSE 在 12/24/48 步较高。</a:t>
            </a:r>
          </a:p>
        </p:txBody>
      </p:sp>
      <p:sp>
        <p:nvSpPr>
          <p:cNvPr id="60" name="口径说明">
            <a:extLst>
              <a:ext uri="{FF2B5EF4-FFF2-40B4-BE49-F238E27FC236}">
                <a16:creationId xmlns:a16="http://schemas.microsoft.com/office/drawing/2014/main" id="{8D0011D1-C226-4D20-B25A-95FB1DF6A553}"/>
              </a:ext>
            </a:extLst>
          </p:cNvPr>
          <p:cNvSpPr>
            <a:spLocks noGrp="1"/>
          </p:cNvSpPr>
          <p:nvPr/>
        </p:nvSpPr>
        <p:spPr>
          <a:xfrm>
            <a:off x="1143000" y="6810375"/>
            <a:ext cx="16002000" cy="179070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正文">
            <a:extLst>
              <a:ext uri="{FF2B5EF4-FFF2-40B4-BE49-F238E27FC236}">
                <a16:creationId xmlns:a16="http://schemas.microsoft.com/office/drawing/2014/main" id="{BC3EB822-3A9C-4F53-8853-527443A605DD}"/>
              </a:ext>
            </a:extLst>
          </p:cNvPr>
          <p:cNvSpPr>
            <a:spLocks noGrp="1"/>
          </p:cNvSpPr>
          <p:nvPr/>
        </p:nvSpPr>
        <p:spPr>
          <a:xfrm>
            <a:off x="1457325" y="7105650"/>
            <a:ext cx="153352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SCINet 的历史训练采用不同的损失与选模设置；DST-Mamba 原文数据划分不同。因此现阶段适合作描述性对比，仍需统一协议复核。</a:t>
            </a:r>
          </a:p>
        </p:txBody>
      </p:sp>
      <p:sp>
        <p:nvSpPr>
          <p:cNvPr id="62" name="来源与口径">
            <a:extLst>
              <a:ext uri="{FF2B5EF4-FFF2-40B4-BE49-F238E27FC236}">
                <a16:creationId xmlns:a16="http://schemas.microsoft.com/office/drawing/2014/main" id="{8ADCA898-623E-4909-890F-99BCFA0AABE7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以上比例按对比图标准化 MAE 四档平均计算；当前每组仅一个随机种子。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A23156C5-B9C2-474F-986A-1A8B481BDC25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当前问题与后续验证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29C26F2D-BCD2-4EB5-BE05-4931CBDFB026}"/>
              </a:ext>
            </a:extLst>
          </p:cNvPr>
          <p:cNvGraphicFramePr/>
          <p:nvPr/>
        </p:nvGraphicFramePr>
        <p:xfrm>
          <a:off x="1143000" y="2619375"/>
          <a:ext cx="16002000" cy="5524500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当前问题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拟采取的工作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对比协议不完全统一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对齐数据划分、损失掩码、归一化与选模规则后重跑关键基线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单随机种子，结论稳定性不足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增加多个种子，报告均值与方差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组件贡献尚未量化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开展 SCI、节点 Mamba、合并前注意力等消融实验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复杂度与误差结构待评估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统计训练/推理开销，并分析节点与长预测区间误差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来源与口径">
            <a:extLst>
              <a:ext uri="{FF2B5EF4-FFF2-40B4-BE49-F238E27FC236}">
                <a16:creationId xmlns:a16="http://schemas.microsoft.com/office/drawing/2014/main" id="{1C859F70-CBE1-47A4-B49B-1DC1FCA011FB}"/>
              </a:ext>
            </a:extLst>
          </p:cNvPr>
          <p:cNvSpPr>
            <a:spLocks noGrp="1"/>
          </p:cNvSpPr>
          <p:nvPr/>
        </p:nvSpPr>
        <p:spPr>
          <a:xfrm>
            <a:off x="1076325" y="9410700"/>
            <a:ext cx="16097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47A"/>
                </a:solidFill>
                <a:latin typeface="微软雅黑"/>
                <a:ea typeface="微软雅黑"/>
                <a:cs typeface="微软雅黑"/>
              </a:rPr>
              <a:t>消融实验为下一阶段任务，本次汇报不填入尚未完成的结果。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4">
            <a:extLst>
              <a:ext uri="{FF2B5EF4-FFF2-40B4-BE49-F238E27FC236}">
                <a16:creationId xmlns:a16="http://schemas.microsoft.com/office/drawing/2014/main" id="{270ED867-04A1-C6C8-D154-BB7440847A6E}"/>
              </a:ext>
            </a:extLst>
          </p:cNvPr>
          <p:cNvSpPr>
            <a:spLocks noGrp="1"/>
          </p:cNvSpPr>
          <p:nvPr/>
        </p:nvSpPr>
        <p:spPr>
          <a:xfrm flipH="1" flipV="1">
            <a:off x="0" y="396302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93C74DE1-F278-1CDF-CECE-7AA3E384568D}"/>
              </a:ext>
            </a:extLst>
          </p:cNvPr>
          <p:cNvSpPr>
            <a:spLocks noGrp="1"/>
          </p:cNvSpPr>
          <p:nvPr/>
        </p:nvSpPr>
        <p:spPr>
          <a:xfrm flipH="1" flipV="1">
            <a:off x="0" y="919501"/>
            <a:ext cx="18288000" cy="9525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68A57E-953C-938F-AF56-A197023653C9}"/>
              </a:ext>
            </a:extLst>
          </p:cNvPr>
          <p:cNvSpPr>
            <a:spLocks noGrp="1"/>
          </p:cNvSpPr>
          <p:nvPr/>
        </p:nvSpPr>
        <p:spPr>
          <a:xfrm>
            <a:off x="678398" y="396302"/>
            <a:ext cx="96648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63B3F8-DF3B-34D2-B8A6-C76D4CF358F4}"/>
              </a:ext>
            </a:extLst>
          </p:cNvPr>
          <p:cNvSpPr>
            <a:spLocks noGrp="1"/>
          </p:cNvSpPr>
          <p:nvPr/>
        </p:nvSpPr>
        <p:spPr>
          <a:xfrm>
            <a:off x="5275919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143D94-7DDF-03C0-1893-047D84B5A6B3}"/>
              </a:ext>
            </a:extLst>
          </p:cNvPr>
          <p:cNvSpPr>
            <a:spLocks noGrp="1"/>
          </p:cNvSpPr>
          <p:nvPr/>
        </p:nvSpPr>
        <p:spPr>
          <a:xfrm>
            <a:off x="8026394" y="398874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研究进展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C2C975-2D45-5283-9575-19108E736B12}"/>
              </a:ext>
            </a:extLst>
          </p:cNvPr>
          <p:cNvSpPr>
            <a:spLocks noGrp="1"/>
          </p:cNvSpPr>
          <p:nvPr/>
        </p:nvSpPr>
        <p:spPr>
          <a:xfrm>
            <a:off x="10426577" y="373898"/>
            <a:ext cx="2514600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模型设计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13C746-8FCB-BE6B-3E65-B712B6701B4B}"/>
              </a:ext>
            </a:extLst>
          </p:cNvPr>
          <p:cNvSpPr>
            <a:spLocks noGrp="1"/>
          </p:cNvSpPr>
          <p:nvPr/>
        </p:nvSpPr>
        <p:spPr>
          <a:xfrm>
            <a:off x="13371206" y="370467"/>
            <a:ext cx="1668466" cy="4800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063D99"/>
                </a:solidFill>
                <a:latin typeface="思源宋体-超粗体"/>
                <a:ea typeface="思源宋体-超粗体"/>
                <a:cs typeface="思源宋体-超粗体"/>
              </a:rPr>
              <a:t>实验结果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B88FFBC6-14D1-A5D1-9891-2F3EDF07C567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64A17FF9-1679-9D10-C552-4EBF1619FD6B}"/>
              </a:ext>
            </a:extLst>
          </p:cNvPr>
          <p:cNvSpPr>
            <a:spLocks noGrp="1"/>
          </p:cNvSpPr>
          <p:nvPr/>
        </p:nvSpPr>
        <p:spPr>
          <a:xfrm>
            <a:off x="635886" y="1268419"/>
            <a:ext cx="104073" cy="591079"/>
          </a:xfrm>
          <a:prstGeom prst="roundRect">
            <a:avLst>
              <a:gd name="adj" fmla="val 50000"/>
            </a:avLst>
          </a:prstGeom>
          <a:solidFill>
            <a:srgbClr val="013690"/>
          </a:solidFill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E6B505-6E86-82D5-A5AE-FCE5FB63D2C9}"/>
              </a:ext>
            </a:extLst>
          </p:cNvPr>
          <p:cNvSpPr>
            <a:spLocks noGrp="1"/>
          </p:cNvSpPr>
          <p:nvPr/>
        </p:nvSpPr>
        <p:spPr>
          <a:xfrm>
            <a:off x="17869885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7487-B1B1-79EB-A5C0-B6088A8A5CB8}"/>
              </a:ext>
            </a:extLst>
          </p:cNvPr>
          <p:cNvSpPr>
            <a:spLocks noGrp="1"/>
          </p:cNvSpPr>
          <p:nvPr/>
        </p:nvSpPr>
        <p:spPr>
          <a:xfrm>
            <a:off x="15698614" y="373898"/>
            <a:ext cx="1668466" cy="480060"/>
          </a:xfrm>
          <a:prstGeom prst="rect">
            <a:avLst/>
          </a:prstGeom>
          <a:solidFill>
            <a:srgbClr val="063D99"/>
          </a:solidFill>
        </p:spPr>
        <p:txBody>
          <a:bodyPr wrap="none" lIns="0" tIns="0" rIns="0" bIns="0" anchor="ctr">
            <a:normAutofit/>
          </a:bodyPr>
          <a:lstStyle>
            <a:defPPr algn="ctr"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defPPr>
          </a:lstStyle>
          <a:p>
            <a:pPr algn="ctr">
              <a:buNone/>
              <a:def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defRPr>
            </a:pPr>
            <a:r>
              <a:rPr sz="2550">
                <a:solidFill>
                  <a:srgbClr val="FFFFFF"/>
                </a:solidFill>
                <a:latin typeface="思源宋体-超粗体"/>
                <a:ea typeface="思源宋体-超粗体"/>
                <a:cs typeface="思源宋体-超粗体"/>
              </a:rPr>
              <a:t>后续计划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C3EF14-1382-4002-836D-6AE66E70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617" y="276656"/>
            <a:ext cx="2618234" cy="2618816"/>
          </a:xfrm>
          <a:prstGeom prst="rect">
            <a:avLst/>
          </a:prstGeom>
        </p:spPr>
      </p:pic>
      <p:sp>
        <p:nvSpPr>
          <p:cNvPr id="51" name="页标题">
            <a:extLst>
              <a:ext uri="{FF2B5EF4-FFF2-40B4-BE49-F238E27FC236}">
                <a16:creationId xmlns:a16="http://schemas.microsoft.com/office/drawing/2014/main" id="{2C771F4D-C0C3-4FEE-AFAA-A6BB16383FC1}"/>
              </a:ext>
            </a:extLst>
          </p:cNvPr>
          <p:cNvSpPr>
            <a:spLocks noGrp="1"/>
          </p:cNvSpPr>
          <p:nvPr/>
        </p:nvSpPr>
        <p:spPr>
          <a:xfrm>
            <a:off x="1076325" y="1343025"/>
            <a:ext cx="1457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下一阶段工作安排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DE58EFFB-AC23-437E-BE61-9446162B19E0}"/>
              </a:ext>
            </a:extLst>
          </p:cNvPr>
          <p:cNvGraphicFramePr/>
          <p:nvPr/>
        </p:nvGraphicFramePr>
        <p:xfrm>
          <a:off x="1095375" y="2619375"/>
          <a:ext cx="16097250" cy="5334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重点工作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预期产出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>
                      <a:solidFill>
                        <a:srgbClr val="B9CAE0"/>
                      </a:solidFill>
                      <a:prstDash val="soli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063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 年 10—11 月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统一实验协议，补跑可比基线与多种子</a:t>
                      </a:r>
                      <a:endParaRPr sz="2100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可复现结果表</a:t>
                      </a:r>
                      <a:endParaRPr sz="2100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 年 11—12 月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完成模块消融、敏感性与开销分析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消融与效率分析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 年 12 月—2027 年 3 月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撰写并修改学位论文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论文初稿与修改稿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 年 4—5 月</a:t>
                      </a:r>
                    </a:p>
                  </a:txBody>
                  <a:tcPr anchor="ctr">
                    <a:lnL w="12383">
                      <a:solidFill>
                        <a:srgbClr val="B9CAE0"/>
                      </a:solidFill>
                      <a:prstDash val="soli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汇总材料、预答辩和正式答辩</a:t>
                      </a: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731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完整论文与答辩材料</a:t>
                      </a:r>
                      <a:endParaRPr sz="2100" b="0" dirty="0">
                        <a:solidFill>
                          <a:srgbClr val="17314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383">
                      <a:solidFill>
                        <a:srgbClr val="B9CAE0"/>
                      </a:solidFill>
                      <a:prstDash val="solid"/>
                    </a:lnR>
                    <a:lnT w="12383" cap="flat" cmpd="sng" algn="ctr">
                      <a:solidFill>
                        <a:srgbClr val="B9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>
                      <a:solidFill>
                        <a:srgbClr val="B9CAE0"/>
                      </a:solidFill>
                      <a:prstDash val="soli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阶段目标">
            <a:extLst>
              <a:ext uri="{FF2B5EF4-FFF2-40B4-BE49-F238E27FC236}">
                <a16:creationId xmlns:a16="http://schemas.microsoft.com/office/drawing/2014/main" id="{1ABEADC5-2A55-42CE-A1CB-873C2E69EB8F}"/>
              </a:ext>
            </a:extLst>
          </p:cNvPr>
          <p:cNvSpPr>
            <a:spLocks noGrp="1"/>
          </p:cNvSpPr>
          <p:nvPr/>
        </p:nvSpPr>
        <p:spPr>
          <a:xfrm>
            <a:off x="1095375" y="8324850"/>
            <a:ext cx="16097250" cy="762000"/>
          </a:xfrm>
          <a:prstGeom prst="rect">
            <a:avLst/>
          </a:prstGeom>
          <a:solidFill>
            <a:srgbClr val="EAF1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正文">
            <a:extLst>
              <a:ext uri="{FF2B5EF4-FFF2-40B4-BE49-F238E27FC236}">
                <a16:creationId xmlns:a16="http://schemas.microsoft.com/office/drawing/2014/main" id="{8D04ABA9-313F-4938-AEB6-A26F166BBE55}"/>
              </a:ext>
            </a:extLst>
          </p:cNvPr>
          <p:cNvSpPr>
            <a:spLocks noGrp="1"/>
          </p:cNvSpPr>
          <p:nvPr/>
        </p:nvSpPr>
        <p:spPr>
          <a:xfrm>
            <a:off x="1400175" y="8429625"/>
            <a:ext cx="1547812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>
            <a:defPPr algn="l">
              <a:def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63D99"/>
                </a:solidFill>
                <a:latin typeface="微软雅黑"/>
                <a:ea typeface="微软雅黑"/>
                <a:cs typeface="微软雅黑"/>
              </a:rPr>
              <a:t>近期重点：统一协议复核模型增益，并明确 SCI、节点 Mamba、跨序列注意力各自贡献。</a:t>
            </a:r>
          </a:p>
        </p:txBody>
      </p:sp>
    </p:spTree>
    <p:extLst>
      <p:ext uri="{BB962C8B-B14F-4D97-AF65-F5344CB8AC3E}">
        <p14:creationId xmlns:p14="http://schemas.microsoft.com/office/powerpoint/2010/main" val="88552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">
            <a:extLst>
              <a:ext uri="{FF2B5EF4-FFF2-40B4-BE49-F238E27FC236}">
                <a16:creationId xmlns:a16="http://schemas.microsoft.com/office/drawing/2014/main" id="{B81171F9-5C5B-FD36-F7AB-9D92AC9A75D4}"/>
              </a:ext>
            </a:extLst>
          </p:cNvPr>
          <p:cNvSpPr>
            <a:spLocks noGrp="1"/>
          </p:cNvSpPr>
          <p:nvPr/>
        </p:nvSpPr>
        <p:spPr>
          <a:xfrm rot="862994">
            <a:off x="0" y="7634155"/>
            <a:ext cx="9299864" cy="2652845"/>
          </a:xfrm>
          <a:custGeom>
            <a:avLst/>
            <a:gdLst/>
            <a:ahLst/>
            <a:cxnLst/>
            <a:rect l="l" t="t" r="r" b="b"/>
            <a:pathLst>
              <a:path w="17412058" h="4723021">
                <a:moveTo>
                  <a:pt x="0" y="0"/>
                </a:moveTo>
                <a:lnTo>
                  <a:pt x="17412059" y="0"/>
                </a:lnTo>
                <a:lnTo>
                  <a:pt x="17412059" y="4723021"/>
                </a:lnTo>
                <a:lnTo>
                  <a:pt x="0" y="47230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" name="Freeform 4">
            <a:extLst>
              <a:ext uri="{FF2B5EF4-FFF2-40B4-BE49-F238E27FC236}">
                <a16:creationId xmlns:a16="http://schemas.microsoft.com/office/drawing/2014/main" id="{1904EA35-46F1-B493-AA89-51956510FE08}"/>
              </a:ext>
            </a:extLst>
          </p:cNvPr>
          <p:cNvSpPr>
            <a:spLocks noGrp="1"/>
          </p:cNvSpPr>
          <p:nvPr/>
        </p:nvSpPr>
        <p:spPr>
          <a:xfrm rot="-1204851" flipV="1">
            <a:off x="5745427" y="8194128"/>
            <a:ext cx="12542573" cy="2092872"/>
          </a:xfrm>
          <a:custGeom>
            <a:avLst/>
            <a:gdLst/>
            <a:ahLst/>
            <a:cxnLst/>
            <a:rect l="l" t="t" r="r" b="b"/>
            <a:pathLst>
              <a:path w="13996660" h="4723021">
                <a:moveTo>
                  <a:pt x="0" y="4723021"/>
                </a:moveTo>
                <a:lnTo>
                  <a:pt x="13996660" y="4723021"/>
                </a:lnTo>
                <a:lnTo>
                  <a:pt x="13996660" y="0"/>
                </a:lnTo>
                <a:lnTo>
                  <a:pt x="0" y="0"/>
                </a:lnTo>
                <a:lnTo>
                  <a:pt x="0" y="4723021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r="-244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5" name="Freeform 3">
            <a:extLst>
              <a:ext uri="{FF2B5EF4-FFF2-40B4-BE49-F238E27FC236}">
                <a16:creationId xmlns:a16="http://schemas.microsoft.com/office/drawing/2014/main" id="{BD858FAF-9D67-AA93-9B75-6DE55E82AB20}"/>
              </a:ext>
            </a:extLst>
          </p:cNvPr>
          <p:cNvSpPr>
            <a:spLocks noGrp="1"/>
          </p:cNvSpPr>
          <p:nvPr/>
        </p:nvSpPr>
        <p:spPr>
          <a:xfrm>
            <a:off x="0" y="1672063"/>
            <a:ext cx="18263511" cy="5633329"/>
          </a:xfrm>
          <a:custGeom>
            <a:avLst/>
            <a:gdLst/>
            <a:ahLst/>
            <a:cxnLst/>
            <a:rect l="l" t="t" r="r" b="b"/>
            <a:pathLst>
              <a:path w="22727910" h="1730375">
                <a:moveTo>
                  <a:pt x="0" y="0"/>
                </a:moveTo>
                <a:lnTo>
                  <a:pt x="22727910" y="0"/>
                </a:lnTo>
                <a:lnTo>
                  <a:pt x="22727910" y="1730375"/>
                </a:lnTo>
                <a:lnTo>
                  <a:pt x="0" y="1730375"/>
                </a:ln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>
              <a:solidFill>
                <a:srgbClr val="013690"/>
              </a:solidFill>
            </a:endParaRPr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53A6CAD8-96F2-99ED-E8DA-9C848A175B2B}"/>
              </a:ext>
            </a:extLst>
          </p:cNvPr>
          <p:cNvSpPr>
            <a:spLocks noGrp="1"/>
          </p:cNvSpPr>
          <p:nvPr/>
        </p:nvSpPr>
        <p:spPr>
          <a:xfrm>
            <a:off x="678398" y="0"/>
            <a:ext cx="9525" cy="10287000"/>
          </a:xfrm>
          <a:prstGeom prst="line">
            <a:avLst/>
          </a:prstGeom>
          <a:ln w="9525" cap="rnd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554D69-6EC2-04B4-A230-2B72ECADE96D}"/>
              </a:ext>
            </a:extLst>
          </p:cNvPr>
          <p:cNvSpPr>
            <a:spLocks noGrp="1"/>
          </p:cNvSpPr>
          <p:nvPr/>
        </p:nvSpPr>
        <p:spPr>
          <a:xfrm>
            <a:off x="14541204" y="73283"/>
            <a:ext cx="227195" cy="10213717"/>
          </a:xfrm>
          <a:custGeom>
            <a:avLst/>
            <a:gdLst/>
            <a:ahLst/>
            <a:cxnLst/>
            <a:rect l="l" t="t" r="r" b="b"/>
            <a:pathLst>
              <a:path w="59837" h="2767844">
                <a:moveTo>
                  <a:pt x="29919" y="0"/>
                </a:moveTo>
                <a:lnTo>
                  <a:pt x="29919" y="0"/>
                </a:lnTo>
                <a:cubicBezTo>
                  <a:pt x="37854" y="0"/>
                  <a:pt x="45464" y="3152"/>
                  <a:pt x="51074" y="8763"/>
                </a:cubicBezTo>
                <a:cubicBezTo>
                  <a:pt x="56685" y="14374"/>
                  <a:pt x="59837" y="21984"/>
                  <a:pt x="59837" y="29919"/>
                </a:cubicBezTo>
                <a:lnTo>
                  <a:pt x="59837" y="2737926"/>
                </a:lnTo>
                <a:cubicBezTo>
                  <a:pt x="59837" y="2754449"/>
                  <a:pt x="46442" y="2767844"/>
                  <a:pt x="29919" y="2767844"/>
                </a:cubicBezTo>
                <a:lnTo>
                  <a:pt x="29919" y="2767844"/>
                </a:lnTo>
                <a:cubicBezTo>
                  <a:pt x="21984" y="2767844"/>
                  <a:pt x="14374" y="2764692"/>
                  <a:pt x="8763" y="2759081"/>
                </a:cubicBezTo>
                <a:cubicBezTo>
                  <a:pt x="3152" y="2753470"/>
                  <a:pt x="0" y="2745860"/>
                  <a:pt x="0" y="2737926"/>
                </a:cubicBezTo>
                <a:lnTo>
                  <a:pt x="0" y="29919"/>
                </a:lnTo>
                <a:cubicBezTo>
                  <a:pt x="0" y="13395"/>
                  <a:pt x="13395" y="0"/>
                  <a:pt x="29919" y="0"/>
                </a:cubicBez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1700F6-9A24-F49B-137C-6D1B9D79609B}"/>
              </a:ext>
            </a:extLst>
          </p:cNvPr>
          <p:cNvSpPr>
            <a:spLocks noGrp="1"/>
          </p:cNvSpPr>
          <p:nvPr/>
        </p:nvSpPr>
        <p:spPr>
          <a:xfrm>
            <a:off x="14541204" y="0"/>
            <a:ext cx="227195" cy="10287000"/>
          </a:xfrm>
          <a:prstGeom prst="rect">
            <a:avLst/>
          </a:prstGeom>
          <a:solidFill>
            <a:srgbClr val="013690"/>
          </a:solidFill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A6F39DC-6FDA-2A9E-E5A5-5E78D20E9E0D}"/>
              </a:ext>
            </a:extLst>
          </p:cNvPr>
          <p:cNvSpPr>
            <a:spLocks noGrp="1"/>
          </p:cNvSpPr>
          <p:nvPr/>
        </p:nvSpPr>
        <p:spPr>
          <a:xfrm>
            <a:off x="12559920" y="8016210"/>
            <a:ext cx="496623" cy="2270790"/>
          </a:xfrm>
          <a:custGeom>
            <a:avLst/>
            <a:gdLst/>
            <a:ahLst/>
            <a:cxnLst/>
            <a:rect l="l" t="t" r="r" b="b"/>
            <a:pathLst>
              <a:path w="130798" h="898050">
                <a:moveTo>
                  <a:pt x="65399" y="0"/>
                </a:moveTo>
                <a:lnTo>
                  <a:pt x="65399" y="0"/>
                </a:lnTo>
                <a:cubicBezTo>
                  <a:pt x="82744" y="0"/>
                  <a:pt x="99378" y="6890"/>
                  <a:pt x="111643" y="19155"/>
                </a:cubicBezTo>
                <a:cubicBezTo>
                  <a:pt x="123908" y="31420"/>
                  <a:pt x="130798" y="48054"/>
                  <a:pt x="130798" y="65399"/>
                </a:cubicBezTo>
                <a:lnTo>
                  <a:pt x="130798" y="832651"/>
                </a:lnTo>
                <a:cubicBezTo>
                  <a:pt x="130798" y="849996"/>
                  <a:pt x="123908" y="866631"/>
                  <a:pt x="111643" y="878895"/>
                </a:cubicBezTo>
                <a:cubicBezTo>
                  <a:pt x="99378" y="891160"/>
                  <a:pt x="82744" y="898050"/>
                  <a:pt x="65399" y="898050"/>
                </a:cubicBezTo>
                <a:lnTo>
                  <a:pt x="65399" y="898050"/>
                </a:lnTo>
                <a:cubicBezTo>
                  <a:pt x="29280" y="898050"/>
                  <a:pt x="0" y="868770"/>
                  <a:pt x="0" y="832651"/>
                </a:cubicBezTo>
                <a:lnTo>
                  <a:pt x="0" y="65399"/>
                </a:lnTo>
                <a:cubicBezTo>
                  <a:pt x="0" y="29280"/>
                  <a:pt x="29280" y="0"/>
                  <a:pt x="65399" y="0"/>
                </a:cubicBezTo>
                <a:close/>
              </a:path>
            </a:pathLst>
          </a:custGeom>
          <a:solidFill>
            <a:srgbClr val="013690"/>
          </a:solidFill>
        </p:spPr>
        <p:txBody>
          <a:bodyPr/>
          <a:lstStyle/>
          <a:p>
            <a:endParaRPr>
              <a:solidFill>
                <a:srgbClr val="013690"/>
              </a:solidFill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B5A70B4-9004-38CF-1D09-8C982461AE89}"/>
              </a:ext>
            </a:extLst>
          </p:cNvPr>
          <p:cNvSpPr>
            <a:spLocks noGrp="1"/>
          </p:cNvSpPr>
          <p:nvPr/>
        </p:nvSpPr>
        <p:spPr>
          <a:xfrm>
            <a:off x="12559920" y="7835384"/>
            <a:ext cx="496623" cy="245161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>
              <a:solidFill>
                <a:srgbClr val="013690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BB506C6-E461-DBA6-33C6-E866BB2E0881}"/>
              </a:ext>
            </a:extLst>
          </p:cNvPr>
          <p:cNvSpPr>
            <a:spLocks noGrp="1"/>
          </p:cNvSpPr>
          <p:nvPr/>
        </p:nvSpPr>
        <p:spPr>
          <a:xfrm>
            <a:off x="1293983" y="8133037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EEF892D-E5B8-65C8-40F0-310784E08AAA}"/>
              </a:ext>
            </a:extLst>
          </p:cNvPr>
          <p:cNvSpPr>
            <a:spLocks noGrp="1"/>
          </p:cNvSpPr>
          <p:nvPr/>
        </p:nvSpPr>
        <p:spPr>
          <a:xfrm>
            <a:off x="5768042" y="8133037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A966013-84CF-A0C4-98BD-47F89F1F1BB2}"/>
              </a:ext>
            </a:extLst>
          </p:cNvPr>
          <p:cNvSpPr>
            <a:spLocks noGrp="1"/>
          </p:cNvSpPr>
          <p:nvPr/>
        </p:nvSpPr>
        <p:spPr>
          <a:xfrm>
            <a:off x="584541" y="2990947"/>
            <a:ext cx="208565" cy="3113542"/>
          </a:xfrm>
          <a:custGeom>
            <a:avLst/>
            <a:gdLst/>
            <a:ahLst/>
            <a:cxnLst/>
            <a:rect l="l" t="t" r="r" b="b"/>
            <a:pathLst>
              <a:path w="54931" h="820027">
                <a:moveTo>
                  <a:pt x="27465" y="0"/>
                </a:moveTo>
                <a:lnTo>
                  <a:pt x="27465" y="0"/>
                </a:lnTo>
                <a:cubicBezTo>
                  <a:pt x="34750" y="0"/>
                  <a:pt x="41736" y="2894"/>
                  <a:pt x="46886" y="8044"/>
                </a:cubicBezTo>
                <a:cubicBezTo>
                  <a:pt x="52037" y="13195"/>
                  <a:pt x="54931" y="20181"/>
                  <a:pt x="54931" y="27465"/>
                </a:cubicBezTo>
                <a:lnTo>
                  <a:pt x="54931" y="792562"/>
                </a:lnTo>
                <a:cubicBezTo>
                  <a:pt x="54931" y="799846"/>
                  <a:pt x="52037" y="806832"/>
                  <a:pt x="46886" y="811983"/>
                </a:cubicBezTo>
                <a:cubicBezTo>
                  <a:pt x="41736" y="817134"/>
                  <a:pt x="34750" y="820027"/>
                  <a:pt x="27465" y="820027"/>
                </a:cubicBezTo>
                <a:lnTo>
                  <a:pt x="27465" y="820027"/>
                </a:lnTo>
                <a:cubicBezTo>
                  <a:pt x="20181" y="820027"/>
                  <a:pt x="13195" y="817134"/>
                  <a:pt x="8044" y="811983"/>
                </a:cubicBezTo>
                <a:cubicBezTo>
                  <a:pt x="2894" y="806832"/>
                  <a:pt x="0" y="799846"/>
                  <a:pt x="0" y="792562"/>
                </a:cubicBezTo>
                <a:lnTo>
                  <a:pt x="0" y="27465"/>
                </a:lnTo>
                <a:cubicBezTo>
                  <a:pt x="0" y="20181"/>
                  <a:pt x="2894" y="13195"/>
                  <a:pt x="8044" y="8044"/>
                </a:cubicBezTo>
                <a:cubicBezTo>
                  <a:pt x="13195" y="2894"/>
                  <a:pt x="20181" y="0"/>
                  <a:pt x="2746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1231D7F-FB11-A42B-CF91-716D6AAC1E64}"/>
              </a:ext>
            </a:extLst>
          </p:cNvPr>
          <p:cNvSpPr>
            <a:spLocks noGrp="1"/>
          </p:cNvSpPr>
          <p:nvPr/>
        </p:nvSpPr>
        <p:spPr>
          <a:xfrm>
            <a:off x="584541" y="2810121"/>
            <a:ext cx="208565" cy="329436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B7B0CD6-2AFD-1A57-5FAE-BC6E6F96CEFE}"/>
              </a:ext>
            </a:extLst>
          </p:cNvPr>
          <p:cNvSpPr>
            <a:spLocks noGrp="1"/>
          </p:cNvSpPr>
          <p:nvPr/>
        </p:nvSpPr>
        <p:spPr>
          <a:xfrm>
            <a:off x="1221609" y="3251831"/>
            <a:ext cx="16387993" cy="1808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999"/>
              </a:lnSpc>
              <a:buNone/>
            </a:pPr>
            <a:r>
              <a:rPr sz="8800" spc="349">
                <a:solidFill>
                  <a:schemeClr val="bg1"/>
                </a:solidFill>
                <a:latin typeface="思源宋体-超粗体"/>
                <a:ea typeface="思源宋体-超粗体"/>
                <a:cs typeface="思源宋体-超粗体"/>
              </a:rPr>
              <a:t>敬请各位老师批评指正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54B3A34-4BC4-C5DF-F2C5-BA70E3303BD0}"/>
              </a:ext>
            </a:extLst>
          </p:cNvPr>
          <p:cNvSpPr>
            <a:spLocks noGrp="1"/>
          </p:cNvSpPr>
          <p:nvPr/>
        </p:nvSpPr>
        <p:spPr>
          <a:xfrm>
            <a:off x="2069531" y="8133037"/>
            <a:ext cx="1364751" cy="4612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 u="none" strike="noStrike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汇报人：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85DB7BD-6EA8-36E2-983F-667C6FB5348A}"/>
              </a:ext>
            </a:extLst>
          </p:cNvPr>
          <p:cNvSpPr>
            <a:spLocks noGrp="1"/>
          </p:cNvSpPr>
          <p:nvPr/>
        </p:nvSpPr>
        <p:spPr>
          <a:xfrm>
            <a:off x="3434283" y="8133037"/>
            <a:ext cx="1364751" cy="4612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倪矗</a:t>
            </a:r>
            <a:endParaRPr sz="2499" u="none" strike="noStrike">
              <a:solidFill>
                <a:srgbClr val="013690"/>
              </a:solidFill>
              <a:latin typeface="思源宋体 2 Bold"/>
              <a:ea typeface="思源宋体 2 Bold"/>
              <a:cs typeface="思源宋体 2 Bold"/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B59DC2DA-B828-45DE-DBD5-3D5B40A5E090}"/>
              </a:ext>
            </a:extLst>
          </p:cNvPr>
          <p:cNvSpPr>
            <a:spLocks noGrp="1"/>
          </p:cNvSpPr>
          <p:nvPr/>
        </p:nvSpPr>
        <p:spPr>
          <a:xfrm rot="10060989">
            <a:off x="0" y="0"/>
            <a:ext cx="13898360" cy="1206720"/>
          </a:xfrm>
          <a:custGeom>
            <a:avLst/>
            <a:gdLst/>
            <a:ahLst/>
            <a:cxnLst/>
            <a:rect l="l" t="t" r="r" b="b"/>
            <a:pathLst>
              <a:path w="17412058" h="4723021">
                <a:moveTo>
                  <a:pt x="0" y="0"/>
                </a:moveTo>
                <a:lnTo>
                  <a:pt x="17412059" y="0"/>
                </a:lnTo>
                <a:lnTo>
                  <a:pt x="17412059" y="4723020"/>
                </a:lnTo>
                <a:lnTo>
                  <a:pt x="0" y="472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9DD360F-F51B-470B-A01B-F9005D330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165" y="0"/>
            <a:ext cx="2618234" cy="2230289"/>
          </a:xfrm>
          <a:prstGeom prst="rect">
            <a:avLst/>
          </a:prstGeom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2D687648-E7C9-7C33-7D40-CBA45ED25CC4}"/>
              </a:ext>
            </a:extLst>
          </p:cNvPr>
          <p:cNvSpPr>
            <a:spLocks noGrp="1"/>
          </p:cNvSpPr>
          <p:nvPr/>
        </p:nvSpPr>
        <p:spPr>
          <a:xfrm>
            <a:off x="6539567" y="8133037"/>
            <a:ext cx="1649540" cy="4612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 u="none" strike="noStrike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指导老师：</a:t>
            </a: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00D16F7F-25FF-1E80-D155-28A09618A680}"/>
              </a:ext>
            </a:extLst>
          </p:cNvPr>
          <p:cNvSpPr>
            <a:spLocks noGrp="1"/>
          </p:cNvSpPr>
          <p:nvPr/>
        </p:nvSpPr>
        <p:spPr>
          <a:xfrm>
            <a:off x="8169053" y="8133036"/>
            <a:ext cx="1649540" cy="4612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13690"/>
                </a:solidFill>
                <a:latin typeface="思源宋体 2 Bold"/>
                <a:ea typeface="思源宋体 2 Bold"/>
                <a:cs typeface="思源宋体 2 Bold"/>
              </a:rPr>
              <a:t>黄惠芳</a:t>
            </a:r>
            <a:endParaRPr sz="2499" u="none" strike="noStrike">
              <a:solidFill>
                <a:srgbClr val="013690"/>
              </a:solidFill>
              <a:latin typeface="思源宋体 2 Bold"/>
              <a:ea typeface="思源宋体 2 Bold"/>
              <a:cs typeface="思源宋体 2 Bold"/>
            </a:endParaRPr>
          </a:p>
        </p:txBody>
      </p:sp>
    </p:spTree>
    <p:extLst>
      <p:ext uri="{BB962C8B-B14F-4D97-AF65-F5344CB8AC3E}">
        <p14:creationId xmlns:p14="http://schemas.microsoft.com/office/powerpoint/2010/main" val="232216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DocSecurity>0</DocSecurity>
  <PresentationFormat>自定义</PresentationFormat>
  <Paragraphs>348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思源宋体-超粗体</vt:lpstr>
      <vt:lpstr>Arial</vt:lpstr>
      <vt:lpstr>思源宋体 2 Bold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晨曦 倪</cp:lastModifiedBy>
  <cp:revision>1</cp:revision>
  <dcterms:created xsi:type="dcterms:W3CDTF">2026-10-13T14:22:03Z</dcterms:created>
  <dcterms:modified xsi:type="dcterms:W3CDTF">2026-10-13T14:58:58Z</dcterms:modified>
</cp:coreProperties>
</file>